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 built Wealth Intelligence for the Julius Baer track: an intelligence layer that sits between raw portfolio data and the Relationship Manager. The whole thesis is one sentence — a deterministic engine computes every signal from the bank's own files, and a language model is only ever used to explain those signals, never to invent them. That single design decision is what makes every insight defensible in a compliance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scenario. Priscilla is a realistic private-banking RM — twenty clients, from an eight-million-dollar individual to an eighty-eight-million family office. Her existing tools are descriptive: they tell her what a portfolio looks like, not what matters or what to do. The challenge, in Julius Baer's own words, is to move her from 'what does the portfolio look like' to 'what should I know and what should I do next'. And the data has a time dimension — five snapshots across a 2026 energy shock, a Hormuz closure and a tech drawdown — so the interesting signal lives in the change, not the snapshot.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is an intelligence layer with three stages. Signal — a deterministic engine reads the twelve source files and computes every risk and opportunity. Understanding — a grounded explanation turns those computed facts into language the RM can actually use in a meeting. Decision — the RM triages the book, drills into a client, and accepts, edits or dismisses each insight. The line at the bottom is the thing to remember: the engine decides what's true; the model only narrates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product — a live Streamlit workbench, not a mockup. On the left is the call queue: all twenty clients ranked by a transparent priority score, and you can filter, sort and search. Select a client and the dossier shows the portfolio value across the five snapshots, a loan-to-value gauge against the margin-call line, and single-name exposure looked through the structured products. Every signal opens to the exact numbers behind it, and the RM accepts, edits or dismisses each one — which builds her meeting-prep list. Demo tip: open on Lau Chi Ming, the client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at the top level. Twelve files are joined into one currency-aware model. A deterministic engine of eight detectors computes every signal and ranks the book. Then the governance boundary — the dashed line in the diagram — separates the deterministic engine above from a single language-model component below. The model is handed the findings as facts to explain; it never computes a number. Finally the workbench, where the RM decides. If you remove the model entirely, the engine still produces the whole triage — you just lose the narration.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eight deterministic detectors. Collateral tracks loan-to-value against the margin-call line. Concentration looks through structured products to the real single name. Mandate catches band, single-position and sustainable-exclusion breaches. Liquidity nets out pledged collateral. Income compares the client's drawdown to the income the portfolio actually pays. Attribution ties the biggest moves to the authoritative event log. Currency flags obligations in a currency the book barely holds. And Review surfaces KYC that's due. The book-wide ranking is the sum of severity squared, so one real emergency beats a stack of minor drift — and we can always defend the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judgement shows, because the dataset sets traps. Currency: a Hong Kong book looks like it collapsed from 206 million to 26 million — but that's just HKD converted to USD, not a loss, so we always value from the USD column. Custody: a client's 41% stake in the family company looks like a breach, but it's in a custody account outside mandate governance — a conversation, not a correction. Liquidity: nineteen million looks sellable until you realise it's pledged to a loan — netted out, only twelve is free. And look-through: three small-looking positions are actually one 29% bet once you see the stock, the perpetual and the accumulator are the same name. Getting these right is what separates arithmetic from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design decision, and the reason the whole thing is defensible inside a bank. On the left, the deterministic engine computes every signal from the files, and every finding ships with its facts and its source rows — reproducible, testable, auditable. The dashed line is the governance boundary: only the computed facts cross it. On the right, the language model does exactly one job — it explains those facts in plain language, cites only what it was given, and is honest about uncertainty. It can't hallucinate a number because it never sees the job of producing one. The trade-off, stated openly: the model can't surface a signal we didn't encode. We accept that, because a bank cannot put an unexplainable insight in front of a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design decision was made for a regulated environment, and each one has an honest trade-off. Deterministic engine with the LLM only explaining — defensible, but the model can't surface a signal we didn't code. Pure standard library — runs anywhere and is trivial to audit, at the cost of a little hand-written plumbing. An explicit look-through table — auditable rather than guessed, but it's a map we maintain. Cached explanations with an offline fallback — the demo never depends on the network. And evidence on every finding — full traceability, slightly more verbose. We're not hiding the costs; we're showing we chose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uniquely answers Julius Baer's challenge. First, it prioritises the whole book — it answers the brief's own question, who to call first and can you defend the ranking. Second, every insight is defensible, grounded in the files and the authoritative event log. Third, it understands the client, not just the arithmetic — it reads the mandate, the tax domicile, the objectives and the RM's own notes, which is where the real advice lives. The flagship makes it concrete: Lau Chi Ming is six-tenths of a point from a margin call because the 2026 shocks cut his collateral; his portfolio is 29% one name once you look through the structured products; and only twelve million is actually free. The engine surfaces him first — and Priscilla can defend every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this actually run inside Julius Baer? We designed for that from the start, and it maps one-to-one onto the bank's own trust requirements. Explainability — every insight is a named detector that carries its facts. Suitability — findings respect the mandate, risk profile and objectives. Human oversight — the RM accepts, edits or dismisses everything; nothing is auto-actioned. Traceability — each finding names its source rows. Security — no client data leaves the engine, and the key lives in the environment, never in the code. And operability — a pure standard-library engine plus a single container image runs on any bank-approved Python host. This isn't a prototype that would need re-architecting; it's shaped like something that could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Fidelity to the case. We follow the exact advisory flow the brief describes — signal, understanding, decision. We go deep on the two or three clients the brief tells us to rather than shallow across twenty: Lau for collateral, Cheung for income suitability, Fong for household liquidity. We ground everything in the event log, the authoritative source, so the system never free-associates about 2026. And we notice the data's imperfections — currency, custody, valuation lag — and say so, because the brief rewards noticing. On the right, it maps cleanly onto all four rubric criteria: client-centric innovation, user experience, technical and operational feasibility, and strategic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 toggle adds the 'what could happen next' half of the brief's flow. One control — De-escalation, Today, Escalation — re-prices every holding under a stylised shock vector grounded in the real 2026 moves. The demo moment: flip to Escalation and Lau's loan-to-value swings from 69.4% straight across the 70% margin call, the gauge goes red, and the whole book re-ranks by scenario stress so the newly-at-risk clients rise to the top. And it stays inside the governance boundary — the shocks and sensitivities are deterministic and shown on screen, never produced by the model. It's labelled an illustrative sensitivity, not a full risk engine, which is exactly the honest framing the brief rewards.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north star from the brief: build the intelligence layer between portfolio data and the Relationship Manager. That's exactly what we built — help RMs understand what matters, anticipate what's next, and turn complex portfolios into timely, personalised, trustworthy advice, with the RM kept central and owning every decision. What's next is a scenario toggle that re-prices exposures for a Middle-East escalation live, a one-page meeting-pack export, and household-level tax optimisation. Everything is synthetic, and the RM always owns the advice.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1C"/>
        </a:solidFill>
      </p:bgPr>
    </p:bg>
    <p:spTree>
      <p:nvGrpSpPr>
        <p:cNvPr id="1" name=""/>
        <p:cNvGrpSpPr/>
        <p:nvPr/>
      </p:nvGrpSpPr>
      <p:grpSpPr>
        <a:xfrm>
          <a:off x="0" y="0"/>
          <a:ext cx="0" cy="0"/>
          <a:chOff x="0" y="0"/>
          <a:chExt cx="0" cy="0"/>
        </a:xfrm>
      </p:grpSpPr>
      <p:sp>
        <p:nvSpPr>
          <p:cNvPr id="2" name="Shape 0"/>
          <p:cNvSpPr/>
          <p:nvPr/>
        </p:nvSpPr>
        <p:spPr>
          <a:xfrm rot="1680000">
            <a:off x="6492240" y="1234440"/>
            <a:ext cx="4754880" cy="1920240"/>
          </a:xfrm>
          <a:prstGeom prst="ellipse">
            <a:avLst/>
          </a:prstGeom>
          <a:ln w="19050">
            <a:solidFill>
              <a:srgbClr val="C9A86A">
                <a:alpha val="65000"/>
              </a:srgbClr>
            </a:solidFill>
            <a:prstDash val="solid"/>
          </a:ln>
        </p:spPr>
      </p:sp>
      <p:sp>
        <p:nvSpPr>
          <p:cNvPr id="3" name="Shape 1"/>
          <p:cNvSpPr/>
          <p:nvPr/>
        </p:nvSpPr>
        <p:spPr>
          <a:xfrm rot="-1920000">
            <a:off x="6492240" y="1234440"/>
            <a:ext cx="4754880" cy="1920240"/>
          </a:xfrm>
          <a:prstGeom prst="ellipse">
            <a:avLst/>
          </a:prstGeom>
          <a:ln w="15240">
            <a:solidFill>
              <a:srgbClr val="7F9BB3">
                <a:alpha val="65000"/>
              </a:srgbClr>
            </a:solidFill>
            <a:prstDash val="solid"/>
          </a:ln>
        </p:spPr>
      </p:sp>
      <p:sp>
        <p:nvSpPr>
          <p:cNvPr id="4" name="Shape 2"/>
          <p:cNvSpPr/>
          <p:nvPr/>
        </p:nvSpPr>
        <p:spPr>
          <a:xfrm rot="4800000">
            <a:off x="6492240" y="1234440"/>
            <a:ext cx="4754880" cy="1920240"/>
          </a:xfrm>
          <a:prstGeom prst="ellipse">
            <a:avLst/>
          </a:prstGeom>
          <a:ln w="12700">
            <a:solidFill>
              <a:srgbClr val="8F7A45">
                <a:alpha val="65000"/>
              </a:srgbClr>
            </a:solidFill>
            <a:prstDash val="solid"/>
          </a:ln>
        </p:spPr>
      </p:sp>
      <p:sp>
        <p:nvSpPr>
          <p:cNvPr id="5" name="Shape 3"/>
          <p:cNvSpPr/>
          <p:nvPr/>
        </p:nvSpPr>
        <p:spPr>
          <a:xfrm>
            <a:off x="8668512" y="1993392"/>
            <a:ext cx="402336" cy="402336"/>
          </a:xfrm>
          <a:prstGeom prst="ellipse">
            <a:avLst/>
          </a:prstGeom>
          <a:solidFill>
            <a:srgbClr val="C9A86A"/>
          </a:solidFill>
          <a:ln/>
        </p:spPr>
      </p:sp>
      <p:sp>
        <p:nvSpPr>
          <p:cNvPr id="6" name="Text 4"/>
          <p:cNvSpPr txBox="1"/>
          <p:nvPr/>
        </p:nvSpPr>
        <p:spPr>
          <a:xfrm>
            <a:off x="822960" y="1371600"/>
            <a:ext cx="8229600" cy="274320"/>
          </a:xfrm>
          <a:prstGeom prst="rect">
            <a:avLst/>
          </a:prstGeom>
          <a:noFill/>
          <a:ln/>
        </p:spPr>
        <p:txBody>
          <a:bodyPr wrap="square" lIns="0" tIns="0" rIns="0" bIns="0" rtlCol="0" anchor="ctr"/>
          <a:lstStyle/>
          <a:p>
            <a:pPr indent="0" marL="0">
              <a:buNone/>
            </a:pPr>
            <a:r>
              <a:rPr lang="en-US" sz="1300" b="1" spc="300" kern="0" dirty="0">
                <a:solidFill>
                  <a:srgbClr val="C9A86A"/>
                </a:solidFill>
                <a:latin typeface="Calibri" pitchFamily="34" charset="0"/>
                <a:ea typeface="Calibri" pitchFamily="34" charset="-122"/>
                <a:cs typeface="Calibri" pitchFamily="34" charset="-120"/>
              </a:rPr>
              <a:t>SINGHACKS 2026   ·   TRACK #1   ·   JULIUS BAER</a:t>
            </a:r>
            <a:endParaRPr lang="en-US" sz="1300" dirty="0"/>
          </a:p>
        </p:txBody>
      </p:sp>
      <p:sp>
        <p:nvSpPr>
          <p:cNvPr id="7" name="Text 5"/>
          <p:cNvSpPr txBox="1"/>
          <p:nvPr/>
        </p:nvSpPr>
        <p:spPr>
          <a:xfrm>
            <a:off x="777240" y="2194560"/>
            <a:ext cx="10058400" cy="1371600"/>
          </a:xfrm>
          <a:prstGeom prst="rect">
            <a:avLst/>
          </a:prstGeom>
          <a:noFill/>
          <a:ln/>
        </p:spPr>
        <p:txBody>
          <a:bodyPr wrap="square" lIns="0" tIns="0" rIns="0" bIns="0" rtlCol="0" anchor="ctr"/>
          <a:lstStyle/>
          <a:p>
            <a:pPr indent="0" marL="0">
              <a:buNone/>
            </a:pPr>
            <a:r>
              <a:rPr lang="en-US" sz="6000" b="1" dirty="0">
                <a:solidFill>
                  <a:srgbClr val="ECE7DD"/>
                </a:solidFill>
                <a:latin typeface="Cambria" pitchFamily="34" charset="0"/>
                <a:ea typeface="Cambria" pitchFamily="34" charset="-122"/>
                <a:cs typeface="Cambria" pitchFamily="34" charset="-120"/>
              </a:rPr>
              <a:t>Wealth Intelligence</a:t>
            </a:r>
            <a:endParaRPr lang="en-US" sz="6000" dirty="0"/>
          </a:p>
        </p:txBody>
      </p:sp>
      <p:sp>
        <p:nvSpPr>
          <p:cNvPr id="8" name="Text 6"/>
          <p:cNvSpPr txBox="1"/>
          <p:nvPr/>
        </p:nvSpPr>
        <p:spPr>
          <a:xfrm>
            <a:off x="822960" y="3566160"/>
            <a:ext cx="8778240" cy="548640"/>
          </a:xfrm>
          <a:prstGeom prst="rect">
            <a:avLst/>
          </a:prstGeom>
          <a:noFill/>
          <a:ln/>
        </p:spPr>
        <p:txBody>
          <a:bodyPr wrap="square" lIns="0" tIns="0" rIns="0" bIns="0" rtlCol="0" anchor="ctr"/>
          <a:lstStyle/>
          <a:p>
            <a:pPr indent="0" marL="0">
              <a:buNone/>
            </a:pPr>
            <a:r>
              <a:rPr lang="en-US" sz="2000" i="1" dirty="0">
                <a:solidFill>
                  <a:srgbClr val="A7ADBA"/>
                </a:solidFill>
                <a:latin typeface="Cambria" pitchFamily="34" charset="0"/>
                <a:ea typeface="Cambria" pitchFamily="34" charset="-122"/>
                <a:cs typeface="Cambria" pitchFamily="34" charset="-120"/>
              </a:rPr>
              <a:t>From portfolio monitoring to intelligence — reimagining wealth advisory.</a:t>
            </a:r>
            <a:endParaRPr lang="en-US" sz="2000" dirty="0"/>
          </a:p>
        </p:txBody>
      </p:sp>
      <p:sp>
        <p:nvSpPr>
          <p:cNvPr id="9" name="Text 7"/>
          <p:cNvSpPr txBox="1"/>
          <p:nvPr/>
        </p:nvSpPr>
        <p:spPr>
          <a:xfrm>
            <a:off x="822960" y="4480560"/>
            <a:ext cx="8595360" cy="731520"/>
          </a:xfrm>
          <a:prstGeom prst="rect">
            <a:avLst/>
          </a:prstGeom>
          <a:noFill/>
          <a:ln/>
        </p:spPr>
        <p:txBody>
          <a:bodyPr wrap="square" lIns="0" tIns="0" rIns="0" bIns="0" rtlCol="0" anchor="ctr"/>
          <a:lstStyle/>
          <a:p>
            <a:pPr indent="0" marL="0">
              <a:lnSpc>
                <a:spcPts val="2200"/>
              </a:lnSpc>
              <a:buNone/>
            </a:pPr>
            <a:r>
              <a:rPr lang="en-US" sz="1450" dirty="0">
                <a:solidFill>
                  <a:srgbClr val="A7ADBA"/>
                </a:solidFill>
                <a:latin typeface="Calibri" pitchFamily="34" charset="0"/>
                <a:ea typeface="Calibri" pitchFamily="34" charset="-122"/>
                <a:cs typeface="Calibri" pitchFamily="34" charset="-120"/>
              </a:rPr>
              <a:t>The intelligence layer between portfolio data and the Relationship Manager. </a:t>
            </a:r>
            <a:pPr indent="0" marL="0">
              <a:lnSpc>
                <a:spcPts val="2200"/>
              </a:lnSpc>
              <a:buNone/>
            </a:pPr>
            <a:r>
              <a:rPr lang="en-US" sz="1450" b="1" dirty="0">
                <a:solidFill>
                  <a:srgbClr val="ECE7DD"/>
                </a:solidFill>
                <a:latin typeface="Calibri" pitchFamily="34" charset="0"/>
                <a:ea typeface="Calibri" pitchFamily="34" charset="-122"/>
                <a:cs typeface="Calibri" pitchFamily="34" charset="-120"/>
              </a:rPr>
              <a:t>A deterministic engine computes every signal; a language model only explains it.</a:t>
            </a:r>
            <a:endParaRPr lang="en-US" sz="1450" dirty="0"/>
          </a:p>
        </p:txBody>
      </p:sp>
      <p:sp>
        <p:nvSpPr>
          <p:cNvPr id="10" name="Text 8"/>
          <p:cNvSpPr txBox="1"/>
          <p:nvPr/>
        </p:nvSpPr>
        <p:spPr>
          <a:xfrm>
            <a:off x="822960" y="5669280"/>
            <a:ext cx="10058400" cy="274320"/>
          </a:xfrm>
          <a:prstGeom prst="rect">
            <a:avLst/>
          </a:prstGeom>
          <a:noFill/>
          <a:ln/>
        </p:spPr>
        <p:txBody>
          <a:bodyPr wrap="square" lIns="0" tIns="0" rIns="0" bIns="0" rtlCol="0" anchor="ctr"/>
          <a:lstStyle/>
          <a:p>
            <a:pPr indent="0" marL="0">
              <a:buNone/>
            </a:pPr>
            <a:r>
              <a:rPr lang="en-US" sz="1150" dirty="0">
                <a:solidFill>
                  <a:srgbClr val="7C8492"/>
                </a:solidFill>
                <a:latin typeface="Calibri" pitchFamily="34" charset="0"/>
                <a:ea typeface="Calibri" pitchFamily="34" charset="-122"/>
                <a:cs typeface="Calibri" pitchFamily="34" charset="-120"/>
              </a:rPr>
              <a:t>20 clients · 24 portfolios · 1,015 positions · 8 deterministic detectors · Streamlit + Claude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320"/>
        </a:solidFill>
      </p:bgPr>
    </p:bg>
    <p:spTree>
      <p:nvGrpSpPr>
        <p:cNvPr id="1" name=""/>
        <p:cNvGrpSpPr/>
        <p:nvPr/>
      </p:nvGrpSpPr>
      <p:grpSpPr>
        <a:xfrm>
          <a:off x="0" y="0"/>
          <a:ext cx="0" cy="0"/>
          <a:chOff x="0" y="0"/>
          <a:chExt cx="0" cy="0"/>
        </a:xfrm>
      </p:grpSpPr>
      <p:sp>
        <p:nvSpPr>
          <p:cNvPr id="2" name="Text 0"/>
          <p:cNvSpPr txBox="1"/>
          <p:nvPr/>
        </p:nvSpPr>
        <p:spPr>
          <a:xfrm>
            <a:off x="566928" y="457200"/>
            <a:ext cx="9144000" cy="274320"/>
          </a:xfrm>
          <a:prstGeom prst="rect">
            <a:avLst/>
          </a:prstGeom>
          <a:noFill/>
          <a:ln/>
        </p:spPr>
        <p:txBody>
          <a:bodyPr wrap="square" lIns="0" tIns="0" rIns="0" bIns="0" rtlCol="0" anchor="ctr"/>
          <a:lstStyle/>
          <a:p>
            <a:pPr indent="0" marL="0">
              <a:buNone/>
            </a:pPr>
            <a:r>
              <a:rPr lang="en-US" sz="1150" b="1" spc="300" kern="0" dirty="0">
                <a:solidFill>
                  <a:srgbClr val="C9A86A"/>
                </a:solidFill>
                <a:latin typeface="Calibri" pitchFamily="34" charset="0"/>
                <a:ea typeface="Calibri" pitchFamily="34" charset="-122"/>
                <a:cs typeface="Calibri" pitchFamily="34" charset="-120"/>
              </a:rPr>
              <a:t>01 · THE CASE</a:t>
            </a:r>
            <a:endParaRPr lang="en-US" sz="1150" dirty="0"/>
          </a:p>
        </p:txBody>
      </p:sp>
      <p:sp>
        <p:nvSpPr>
          <p:cNvPr id="3" name="Text 1"/>
          <p:cNvSpPr txBox="1"/>
          <p:nvPr/>
        </p:nvSpPr>
        <p:spPr>
          <a:xfrm>
            <a:off x="548640" y="749808"/>
            <a:ext cx="10972800" cy="914400"/>
          </a:xfrm>
          <a:prstGeom prst="rect">
            <a:avLst/>
          </a:prstGeom>
          <a:noFill/>
          <a:ln/>
        </p:spPr>
        <p:txBody>
          <a:bodyPr wrap="square" lIns="0" tIns="0" rIns="0" bIns="0" rtlCol="0" anchor="ctr"/>
          <a:lstStyle/>
          <a:p>
            <a:pPr indent="0" marL="0">
              <a:lnSpc>
                <a:spcPts val="3360"/>
              </a:lnSpc>
              <a:buNone/>
            </a:pPr>
            <a:r>
              <a:rPr lang="en-US" sz="3200" b="1" dirty="0">
                <a:solidFill>
                  <a:srgbClr val="ECE7DD"/>
                </a:solidFill>
                <a:latin typeface="Cambria" pitchFamily="34" charset="0"/>
                <a:ea typeface="Cambria" pitchFamily="34" charset="-122"/>
                <a:cs typeface="Cambria" pitchFamily="34" charset="-120"/>
              </a:rPr>
              <a:t>One RM, twenty clients, and tools that only describe</a:t>
            </a:r>
            <a:endParaRPr lang="en-US" sz="3200" dirty="0"/>
          </a:p>
        </p:txBody>
      </p:sp>
      <p:sp>
        <p:nvSpPr>
          <p:cNvPr id="4" name="Text 2"/>
          <p:cNvSpPr txBox="1"/>
          <p:nvPr/>
        </p:nvSpPr>
        <p:spPr>
          <a:xfrm>
            <a:off x="548640" y="1874520"/>
            <a:ext cx="6126480" cy="914400"/>
          </a:xfrm>
          <a:prstGeom prst="rect">
            <a:avLst/>
          </a:prstGeom>
          <a:noFill/>
          <a:ln/>
        </p:spPr>
        <p:txBody>
          <a:bodyPr wrap="square" lIns="0" tIns="0" rIns="0" bIns="0" rtlCol="0" anchor="ctr"/>
          <a:lstStyle/>
          <a:p>
            <a:pPr indent="0" marL="0">
              <a:lnSpc>
                <a:spcPts val="2400"/>
              </a:lnSpc>
              <a:buNone/>
            </a:pPr>
            <a:r>
              <a:rPr lang="en-US" sz="1500" dirty="0">
                <a:solidFill>
                  <a:srgbClr val="A7ADBA"/>
                </a:solidFill>
                <a:latin typeface="Calibri" pitchFamily="34" charset="0"/>
                <a:ea typeface="Calibri" pitchFamily="34" charset="-122"/>
                <a:cs typeface="Calibri" pitchFamily="34" charset="-120"/>
              </a:rPr>
              <a:t>Priscilla Ong covers 20 private-banking clients across Singapore and Hong Kong. </a:t>
            </a:r>
            <a:pPr indent="0" marL="0">
              <a:lnSpc>
                <a:spcPts val="2400"/>
              </a:lnSpc>
              <a:buNone/>
            </a:pPr>
            <a:r>
              <a:rPr lang="en-US" sz="1500" b="1" dirty="0">
                <a:solidFill>
                  <a:srgbClr val="ECE7DD"/>
                </a:solidFill>
                <a:latin typeface="Calibri" pitchFamily="34" charset="0"/>
                <a:ea typeface="Calibri" pitchFamily="34" charset="-122"/>
                <a:cs typeface="Calibri" pitchFamily="34" charset="-120"/>
              </a:rPr>
              <a:t>Today is 26 August 2026</a:t>
            </a:r>
            <a:pPr indent="0" marL="0">
              <a:lnSpc>
                <a:spcPts val="2400"/>
              </a:lnSpc>
              <a:buNone/>
            </a:pPr>
            <a:r>
              <a:rPr lang="en-US" sz="1500" dirty="0">
                <a:solidFill>
                  <a:srgbClr val="A7ADBA"/>
                </a:solidFill>
                <a:latin typeface="Calibri" pitchFamily="34" charset="0"/>
                <a:ea typeface="Calibri" pitchFamily="34" charset="-122"/>
                <a:cs typeface="Calibri" pitchFamily="34" charset="-120"/>
              </a:rPr>
              <a:t>, and she has client meetings over the next fortnight.</a:t>
            </a:r>
            <a:endParaRPr lang="en-US" sz="1500" dirty="0"/>
          </a:p>
        </p:txBody>
      </p:sp>
      <p:sp>
        <p:nvSpPr>
          <p:cNvPr id="5" name="Text 3"/>
          <p:cNvSpPr txBox="1"/>
          <p:nvPr/>
        </p:nvSpPr>
        <p:spPr>
          <a:xfrm>
            <a:off x="548640" y="2880360"/>
            <a:ext cx="6126480" cy="1280160"/>
          </a:xfrm>
          <a:prstGeom prst="rect">
            <a:avLst/>
          </a:prstGeom>
          <a:noFill/>
          <a:ln/>
        </p:spPr>
        <p:txBody>
          <a:bodyPr wrap="square" lIns="0" tIns="0" rIns="0" bIns="0" rtlCol="0" anchor="ctr"/>
          <a:lstStyle/>
          <a:p>
            <a:pPr indent="0" marL="0">
              <a:lnSpc>
                <a:spcPts val="2400"/>
              </a:lnSpc>
              <a:buNone/>
            </a:pPr>
            <a:r>
              <a:rPr lang="en-US" sz="1500" dirty="0">
                <a:solidFill>
                  <a:srgbClr val="A7ADBA"/>
                </a:solidFill>
                <a:latin typeface="Calibri" pitchFamily="34" charset="0"/>
                <a:ea typeface="Calibri" pitchFamily="34" charset="-122"/>
                <a:cs typeface="Calibri" pitchFamily="34" charset="-120"/>
              </a:rPr>
              <a:t>Existing tools show valuations, performance and allocations — they are descriptive. She must manually interpret risk, market impact, tax and the next action, across mandates, currencies and structured products.</a:t>
            </a:r>
            <a:endParaRPr lang="en-US" sz="1500" dirty="0"/>
          </a:p>
        </p:txBody>
      </p:sp>
      <p:sp>
        <p:nvSpPr>
          <p:cNvPr id="6" name="Shape 4"/>
          <p:cNvSpPr/>
          <p:nvPr/>
        </p:nvSpPr>
        <p:spPr>
          <a:xfrm>
            <a:off x="548640" y="4297680"/>
            <a:ext cx="6126480" cy="1737360"/>
          </a:xfrm>
          <a:prstGeom prst="roundRect">
            <a:avLst>
              <a:gd name="adj" fmla="val 4737"/>
            </a:avLst>
          </a:prstGeom>
          <a:solidFill>
            <a:srgbClr val="1B2A42"/>
          </a:solidFill>
          <a:ln w="12700">
            <a:solidFill>
              <a:srgbClr val="2A3752"/>
            </a:solidFill>
            <a:prstDash val="solid"/>
          </a:ln>
        </p:spPr>
      </p:sp>
      <p:sp>
        <p:nvSpPr>
          <p:cNvPr id="7" name="Text 5"/>
          <p:cNvSpPr txBox="1"/>
          <p:nvPr/>
        </p:nvSpPr>
        <p:spPr>
          <a:xfrm>
            <a:off x="822960" y="4526280"/>
            <a:ext cx="5577840" cy="457200"/>
          </a:xfrm>
          <a:prstGeom prst="rect">
            <a:avLst/>
          </a:prstGeom>
          <a:noFill/>
          <a:ln/>
        </p:spPr>
        <p:txBody>
          <a:bodyPr wrap="square" lIns="0" tIns="0" rIns="0" bIns="0" rtlCol="0" anchor="ctr"/>
          <a:lstStyle/>
          <a:p>
            <a:pPr indent="0" marL="0">
              <a:buNone/>
            </a:pPr>
            <a:r>
              <a:rPr lang="en-US" sz="1700" i="1" dirty="0">
                <a:solidFill>
                  <a:srgbClr val="7C8492"/>
                </a:solidFill>
                <a:latin typeface="Cambria" pitchFamily="34" charset="0"/>
                <a:ea typeface="Cambria" pitchFamily="34" charset="-122"/>
                <a:cs typeface="Cambria" pitchFamily="34" charset="-120"/>
              </a:rPr>
              <a:t>“What does my client's portfolio look like?”</a:t>
            </a:r>
            <a:endParaRPr lang="en-US" sz="1700" dirty="0"/>
          </a:p>
        </p:txBody>
      </p:sp>
      <p:sp>
        <p:nvSpPr>
          <p:cNvPr id="8" name="Text 6"/>
          <p:cNvSpPr txBox="1"/>
          <p:nvPr/>
        </p:nvSpPr>
        <p:spPr>
          <a:xfrm>
            <a:off x="822960" y="5120640"/>
            <a:ext cx="5577840" cy="640080"/>
          </a:xfrm>
          <a:prstGeom prst="rect">
            <a:avLst/>
          </a:prstGeom>
          <a:noFill/>
          <a:ln/>
        </p:spPr>
        <p:txBody>
          <a:bodyPr wrap="square" lIns="0" tIns="0" rIns="0" bIns="0" rtlCol="0" anchor="ctr"/>
          <a:lstStyle/>
          <a:p>
            <a:pPr indent="0" marL="0">
              <a:buNone/>
            </a:pPr>
            <a:r>
              <a:rPr lang="en-US" sz="1900" b="1" i="1" dirty="0">
                <a:solidFill>
                  <a:srgbClr val="C9A86A"/>
                </a:solidFill>
                <a:latin typeface="Cambria" pitchFamily="34" charset="0"/>
                <a:ea typeface="Cambria" pitchFamily="34" charset="-122"/>
                <a:cs typeface="Cambria" pitchFamily="34" charset="-120"/>
              </a:rPr>
              <a:t>→  “What should I know, and what should I do next?”</a:t>
            </a:r>
            <a:endParaRPr lang="en-US" sz="1900" dirty="0"/>
          </a:p>
        </p:txBody>
      </p:sp>
      <p:sp>
        <p:nvSpPr>
          <p:cNvPr id="9" name="Shape 7"/>
          <p:cNvSpPr/>
          <p:nvPr/>
        </p:nvSpPr>
        <p:spPr>
          <a:xfrm>
            <a:off x="7040880" y="1874520"/>
            <a:ext cx="4572000" cy="1234440"/>
          </a:xfrm>
          <a:prstGeom prst="roundRect">
            <a:avLst>
              <a:gd name="adj" fmla="val 6667"/>
            </a:avLst>
          </a:prstGeom>
          <a:solidFill>
            <a:srgbClr val="16233A"/>
          </a:solidFill>
          <a:ln w="12700">
            <a:solidFill>
              <a:srgbClr val="2A3752"/>
            </a:solidFill>
            <a:prstDash val="solid"/>
          </a:ln>
        </p:spPr>
      </p:sp>
      <p:sp>
        <p:nvSpPr>
          <p:cNvPr id="10" name="Text 8"/>
          <p:cNvSpPr txBox="1"/>
          <p:nvPr/>
        </p:nvSpPr>
        <p:spPr>
          <a:xfrm>
            <a:off x="7315200" y="2020824"/>
            <a:ext cx="4023360" cy="640080"/>
          </a:xfrm>
          <a:prstGeom prst="rect">
            <a:avLst/>
          </a:prstGeom>
          <a:noFill/>
          <a:ln/>
        </p:spPr>
        <p:txBody>
          <a:bodyPr wrap="square" lIns="0" tIns="0" rIns="0" bIns="0" rtlCol="0" anchor="ctr"/>
          <a:lstStyle/>
          <a:p>
            <a:pPr indent="0" marL="0">
              <a:buNone/>
            </a:pPr>
            <a:r>
              <a:rPr lang="en-US" sz="3400" b="1" dirty="0">
                <a:solidFill>
                  <a:srgbClr val="C9A86A"/>
                </a:solidFill>
                <a:latin typeface="Cambria" pitchFamily="34" charset="0"/>
                <a:ea typeface="Cambria" pitchFamily="34" charset="-122"/>
                <a:cs typeface="Cambria" pitchFamily="34" charset="-120"/>
              </a:rPr>
              <a:t>20</a:t>
            </a:r>
            <a:endParaRPr lang="en-US" sz="3400" dirty="0"/>
          </a:p>
        </p:txBody>
      </p:sp>
      <p:sp>
        <p:nvSpPr>
          <p:cNvPr id="11" name="Text 9"/>
          <p:cNvSpPr txBox="1"/>
          <p:nvPr/>
        </p:nvSpPr>
        <p:spPr>
          <a:xfrm>
            <a:off x="7315200" y="2697480"/>
            <a:ext cx="4023360" cy="320040"/>
          </a:xfrm>
          <a:prstGeom prst="rect">
            <a:avLst/>
          </a:prstGeom>
          <a:noFill/>
          <a:ln/>
        </p:spPr>
        <p:txBody>
          <a:bodyPr wrap="square" lIns="0" tIns="0" rIns="0" bIns="0" rtlCol="0" anchor="ctr"/>
          <a:lstStyle/>
          <a:p>
            <a:pPr indent="0" marL="0">
              <a:buNone/>
            </a:pPr>
            <a:r>
              <a:rPr lang="en-US" sz="1250" dirty="0">
                <a:solidFill>
                  <a:srgbClr val="A7ADBA"/>
                </a:solidFill>
                <a:latin typeface="Calibri" pitchFamily="34" charset="0"/>
                <a:ea typeface="Calibri" pitchFamily="34" charset="-122"/>
                <a:cs typeface="Calibri" pitchFamily="34" charset="-120"/>
              </a:rPr>
              <a:t>clients, one RM</a:t>
            </a:r>
            <a:endParaRPr lang="en-US" sz="1250" dirty="0"/>
          </a:p>
        </p:txBody>
      </p:sp>
      <p:sp>
        <p:nvSpPr>
          <p:cNvPr id="12" name="Shape 10"/>
          <p:cNvSpPr/>
          <p:nvPr/>
        </p:nvSpPr>
        <p:spPr>
          <a:xfrm>
            <a:off x="7040880" y="3291840"/>
            <a:ext cx="4572000" cy="1234440"/>
          </a:xfrm>
          <a:prstGeom prst="roundRect">
            <a:avLst>
              <a:gd name="adj" fmla="val 6667"/>
            </a:avLst>
          </a:prstGeom>
          <a:solidFill>
            <a:srgbClr val="16233A"/>
          </a:solidFill>
          <a:ln w="12700">
            <a:solidFill>
              <a:srgbClr val="2A3752"/>
            </a:solidFill>
            <a:prstDash val="solid"/>
          </a:ln>
        </p:spPr>
      </p:sp>
      <p:sp>
        <p:nvSpPr>
          <p:cNvPr id="13" name="Text 11"/>
          <p:cNvSpPr txBox="1"/>
          <p:nvPr/>
        </p:nvSpPr>
        <p:spPr>
          <a:xfrm>
            <a:off x="7315200" y="3438144"/>
            <a:ext cx="4023360" cy="640080"/>
          </a:xfrm>
          <a:prstGeom prst="rect">
            <a:avLst/>
          </a:prstGeom>
          <a:noFill/>
          <a:ln/>
        </p:spPr>
        <p:txBody>
          <a:bodyPr wrap="square" lIns="0" tIns="0" rIns="0" bIns="0" rtlCol="0" anchor="ctr"/>
          <a:lstStyle/>
          <a:p>
            <a:pPr indent="0" marL="0">
              <a:buNone/>
            </a:pPr>
            <a:r>
              <a:rPr lang="en-US" sz="3400" b="1" dirty="0">
                <a:solidFill>
                  <a:srgbClr val="C9A86A"/>
                </a:solidFill>
                <a:latin typeface="Cambria" pitchFamily="34" charset="0"/>
                <a:ea typeface="Cambria" pitchFamily="34" charset="-122"/>
                <a:cs typeface="Cambria" pitchFamily="34" charset="-120"/>
              </a:rPr>
              <a:t>USD 596M</a:t>
            </a:r>
            <a:endParaRPr lang="en-US" sz="3400" dirty="0"/>
          </a:p>
        </p:txBody>
      </p:sp>
      <p:sp>
        <p:nvSpPr>
          <p:cNvPr id="14" name="Text 12"/>
          <p:cNvSpPr txBox="1"/>
          <p:nvPr/>
        </p:nvSpPr>
        <p:spPr>
          <a:xfrm>
            <a:off x="7315200" y="4114800"/>
            <a:ext cx="4023360" cy="320040"/>
          </a:xfrm>
          <a:prstGeom prst="rect">
            <a:avLst/>
          </a:prstGeom>
          <a:noFill/>
          <a:ln/>
        </p:spPr>
        <p:txBody>
          <a:bodyPr wrap="square" lIns="0" tIns="0" rIns="0" bIns="0" rtlCol="0" anchor="ctr"/>
          <a:lstStyle/>
          <a:p>
            <a:pPr indent="0" marL="0">
              <a:buNone/>
            </a:pPr>
            <a:r>
              <a:rPr lang="en-US" sz="1250" dirty="0">
                <a:solidFill>
                  <a:srgbClr val="A7ADBA"/>
                </a:solidFill>
                <a:latin typeface="Calibri" pitchFamily="34" charset="0"/>
                <a:ea typeface="Calibri" pitchFamily="34" charset="-122"/>
                <a:cs typeface="Calibri" pitchFamily="34" charset="-120"/>
              </a:rPr>
              <a:t>total AUM</a:t>
            </a:r>
            <a:endParaRPr lang="en-US" sz="1250" dirty="0"/>
          </a:p>
        </p:txBody>
      </p:sp>
      <p:sp>
        <p:nvSpPr>
          <p:cNvPr id="15" name="Shape 13"/>
          <p:cNvSpPr/>
          <p:nvPr/>
        </p:nvSpPr>
        <p:spPr>
          <a:xfrm>
            <a:off x="7040880" y="4709160"/>
            <a:ext cx="4572000" cy="1234440"/>
          </a:xfrm>
          <a:prstGeom prst="roundRect">
            <a:avLst>
              <a:gd name="adj" fmla="val 6667"/>
            </a:avLst>
          </a:prstGeom>
          <a:solidFill>
            <a:srgbClr val="16233A"/>
          </a:solidFill>
          <a:ln w="12700">
            <a:solidFill>
              <a:srgbClr val="2A3752"/>
            </a:solidFill>
            <a:prstDash val="solid"/>
          </a:ln>
        </p:spPr>
      </p:sp>
      <p:sp>
        <p:nvSpPr>
          <p:cNvPr id="16" name="Text 14"/>
          <p:cNvSpPr txBox="1"/>
          <p:nvPr/>
        </p:nvSpPr>
        <p:spPr>
          <a:xfrm>
            <a:off x="7315200" y="4855464"/>
            <a:ext cx="4023360" cy="640080"/>
          </a:xfrm>
          <a:prstGeom prst="rect">
            <a:avLst/>
          </a:prstGeom>
          <a:noFill/>
          <a:ln/>
        </p:spPr>
        <p:txBody>
          <a:bodyPr wrap="square" lIns="0" tIns="0" rIns="0" bIns="0" rtlCol="0" anchor="ctr"/>
          <a:lstStyle/>
          <a:p>
            <a:pPr indent="0" marL="0">
              <a:buNone/>
            </a:pPr>
            <a:r>
              <a:rPr lang="en-US" sz="3400" b="1" dirty="0">
                <a:solidFill>
                  <a:srgbClr val="C9A86A"/>
                </a:solidFill>
                <a:latin typeface="Cambria" pitchFamily="34" charset="0"/>
                <a:ea typeface="Cambria" pitchFamily="34" charset="-122"/>
                <a:cs typeface="Cambria" pitchFamily="34" charset="-120"/>
              </a:rPr>
              <a:t>5</a:t>
            </a:r>
            <a:endParaRPr lang="en-US" sz="3400" dirty="0"/>
          </a:p>
        </p:txBody>
      </p:sp>
      <p:sp>
        <p:nvSpPr>
          <p:cNvPr id="17" name="Text 15"/>
          <p:cNvSpPr txBox="1"/>
          <p:nvPr/>
        </p:nvSpPr>
        <p:spPr>
          <a:xfrm>
            <a:off x="7315200" y="5532120"/>
            <a:ext cx="4023360" cy="320040"/>
          </a:xfrm>
          <a:prstGeom prst="rect">
            <a:avLst/>
          </a:prstGeom>
          <a:noFill/>
          <a:ln/>
        </p:spPr>
        <p:txBody>
          <a:bodyPr wrap="square" lIns="0" tIns="0" rIns="0" bIns="0" rtlCol="0" anchor="ctr"/>
          <a:lstStyle/>
          <a:p>
            <a:pPr indent="0" marL="0">
              <a:buNone/>
            </a:pPr>
            <a:r>
              <a:rPr lang="en-US" sz="1250" dirty="0">
                <a:solidFill>
                  <a:srgbClr val="A7ADBA"/>
                </a:solidFill>
                <a:latin typeface="Calibri" pitchFamily="34" charset="0"/>
                <a:ea typeface="Calibri" pitchFamily="34" charset="-122"/>
                <a:cs typeface="Calibri" pitchFamily="34" charset="-120"/>
              </a:rPr>
              <a:t>dated snapshots of a turbulent 2026</a:t>
            </a:r>
            <a:endParaRPr lang="en-US" sz="1250" dirty="0"/>
          </a:p>
        </p:txBody>
      </p:sp>
      <p:sp>
        <p:nvSpPr>
          <p:cNvPr id="18" name="Text 16"/>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7C8492"/>
                </a:solidFill>
                <a:latin typeface="Calibri" pitchFamily="34" charset="0"/>
                <a:ea typeface="Calibri" pitchFamily="34" charset="-122"/>
                <a:cs typeface="Calibri" pitchFamily="34" charset="-120"/>
              </a:rPr>
              <a:t>Wealth Intelligence · Julius Baer · Track #1</a:t>
            </a:r>
            <a:endParaRPr lang="en-US" sz="900" dirty="0"/>
          </a:p>
        </p:txBody>
      </p:sp>
      <p:sp>
        <p:nvSpPr>
          <p:cNvPr id="19" name="Text 17"/>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7C8492"/>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320"/>
        </a:solidFill>
      </p:bgPr>
    </p:bg>
    <p:spTree>
      <p:nvGrpSpPr>
        <p:cNvPr id="1" name=""/>
        <p:cNvGrpSpPr/>
        <p:nvPr/>
      </p:nvGrpSpPr>
      <p:grpSpPr>
        <a:xfrm>
          <a:off x="0" y="0"/>
          <a:ext cx="0" cy="0"/>
          <a:chOff x="0" y="0"/>
          <a:chExt cx="0" cy="0"/>
        </a:xfrm>
      </p:grpSpPr>
      <p:sp>
        <p:nvSpPr>
          <p:cNvPr id="2" name="Text 0"/>
          <p:cNvSpPr txBox="1"/>
          <p:nvPr/>
        </p:nvSpPr>
        <p:spPr>
          <a:xfrm>
            <a:off x="566928" y="457200"/>
            <a:ext cx="9144000" cy="274320"/>
          </a:xfrm>
          <a:prstGeom prst="rect">
            <a:avLst/>
          </a:prstGeom>
          <a:noFill/>
          <a:ln/>
        </p:spPr>
        <p:txBody>
          <a:bodyPr wrap="square" lIns="0" tIns="0" rIns="0" bIns="0" rtlCol="0" anchor="ctr"/>
          <a:lstStyle/>
          <a:p>
            <a:pPr indent="0" marL="0">
              <a:buNone/>
            </a:pPr>
            <a:r>
              <a:rPr lang="en-US" sz="1150" b="1" spc="300" kern="0" dirty="0">
                <a:solidFill>
                  <a:srgbClr val="C9A86A"/>
                </a:solidFill>
                <a:latin typeface="Calibri" pitchFamily="34" charset="0"/>
                <a:ea typeface="Calibri" pitchFamily="34" charset="-122"/>
                <a:cs typeface="Calibri" pitchFamily="34" charset="-120"/>
              </a:rPr>
              <a:t>02 · OUR ANSWER</a:t>
            </a:r>
            <a:endParaRPr lang="en-US" sz="1150" dirty="0"/>
          </a:p>
        </p:txBody>
      </p:sp>
      <p:sp>
        <p:nvSpPr>
          <p:cNvPr id="3" name="Text 1"/>
          <p:cNvSpPr txBox="1"/>
          <p:nvPr/>
        </p:nvSpPr>
        <p:spPr>
          <a:xfrm>
            <a:off x="548640" y="749808"/>
            <a:ext cx="10972800" cy="914400"/>
          </a:xfrm>
          <a:prstGeom prst="rect">
            <a:avLst/>
          </a:prstGeom>
          <a:noFill/>
          <a:ln/>
        </p:spPr>
        <p:txBody>
          <a:bodyPr wrap="square" lIns="0" tIns="0" rIns="0" bIns="0" rtlCol="0" anchor="ctr"/>
          <a:lstStyle/>
          <a:p>
            <a:pPr indent="0" marL="0">
              <a:lnSpc>
                <a:spcPts val="3360"/>
              </a:lnSpc>
              <a:buNone/>
            </a:pPr>
            <a:r>
              <a:rPr lang="en-US" sz="3200" b="1" dirty="0">
                <a:solidFill>
                  <a:srgbClr val="ECE7DD"/>
                </a:solidFill>
                <a:latin typeface="Cambria" pitchFamily="34" charset="0"/>
                <a:ea typeface="Cambria" pitchFamily="34" charset="-122"/>
                <a:cs typeface="Cambria" pitchFamily="34" charset="-120"/>
              </a:rPr>
              <a:t>An intelligence layer: signal → understanding → decision</a:t>
            </a:r>
            <a:endParaRPr lang="en-US" sz="3200" dirty="0"/>
          </a:p>
        </p:txBody>
      </p:sp>
      <p:sp>
        <p:nvSpPr>
          <p:cNvPr id="4" name="Shape 2"/>
          <p:cNvSpPr/>
          <p:nvPr/>
        </p:nvSpPr>
        <p:spPr>
          <a:xfrm>
            <a:off x="548640" y="2194560"/>
            <a:ext cx="3566160" cy="3108960"/>
          </a:xfrm>
          <a:prstGeom prst="roundRect">
            <a:avLst>
              <a:gd name="adj" fmla="val 2647"/>
            </a:avLst>
          </a:prstGeom>
          <a:solidFill>
            <a:srgbClr val="16233A"/>
          </a:solidFill>
          <a:ln w="12700">
            <a:solidFill>
              <a:srgbClr val="2A3752"/>
            </a:solidFill>
            <a:prstDash val="solid"/>
          </a:ln>
        </p:spPr>
      </p:sp>
      <p:sp>
        <p:nvSpPr>
          <p:cNvPr id="5" name="Shape 3"/>
          <p:cNvSpPr/>
          <p:nvPr/>
        </p:nvSpPr>
        <p:spPr>
          <a:xfrm>
            <a:off x="868680" y="2514600"/>
            <a:ext cx="457200" cy="457200"/>
          </a:xfrm>
          <a:prstGeom prst="roundRect">
            <a:avLst>
              <a:gd name="adj" fmla="val 10000"/>
            </a:avLst>
          </a:prstGeom>
          <a:solidFill>
            <a:srgbClr val="C9A86A"/>
          </a:solidFill>
          <a:ln/>
        </p:spPr>
      </p:sp>
      <p:sp>
        <p:nvSpPr>
          <p:cNvPr id="6" name="Text 4"/>
          <p:cNvSpPr txBox="1"/>
          <p:nvPr/>
        </p:nvSpPr>
        <p:spPr>
          <a:xfrm>
            <a:off x="868680" y="2514600"/>
            <a:ext cx="457200" cy="457200"/>
          </a:xfrm>
          <a:prstGeom prst="rect">
            <a:avLst/>
          </a:prstGeom>
          <a:noFill/>
          <a:ln/>
        </p:spPr>
        <p:txBody>
          <a:bodyPr wrap="square" lIns="0" tIns="0" rIns="0" bIns="0" rtlCol="0" anchor="ctr"/>
          <a:lstStyle/>
          <a:p>
            <a:pPr algn="ctr" indent="0" marL="0">
              <a:buNone/>
            </a:pPr>
            <a:r>
              <a:rPr lang="en-US" sz="1300" b="1" dirty="0">
                <a:solidFill>
                  <a:srgbClr val="0C1320"/>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68680" y="3154680"/>
            <a:ext cx="2926080" cy="457200"/>
          </a:xfrm>
          <a:prstGeom prst="rect">
            <a:avLst/>
          </a:prstGeom>
          <a:noFill/>
          <a:ln/>
        </p:spPr>
        <p:txBody>
          <a:bodyPr wrap="square" lIns="0" tIns="0" rIns="0" bIns="0" rtlCol="0" anchor="ctr"/>
          <a:lstStyle/>
          <a:p>
            <a:pPr indent="0" marL="0">
              <a:buNone/>
            </a:pPr>
            <a:r>
              <a:rPr lang="en-US" sz="2200" b="1" dirty="0">
                <a:solidFill>
                  <a:srgbClr val="ECE7DD"/>
                </a:solidFill>
                <a:latin typeface="Cambria" pitchFamily="34" charset="0"/>
                <a:ea typeface="Cambria" pitchFamily="34" charset="-122"/>
                <a:cs typeface="Cambria" pitchFamily="34" charset="-120"/>
              </a:rPr>
              <a:t>Signal</a:t>
            </a:r>
            <a:endParaRPr lang="en-US" sz="2200" dirty="0"/>
          </a:p>
        </p:txBody>
      </p:sp>
      <p:sp>
        <p:nvSpPr>
          <p:cNvPr id="8" name="Text 6"/>
          <p:cNvSpPr txBox="1"/>
          <p:nvPr/>
        </p:nvSpPr>
        <p:spPr>
          <a:xfrm>
            <a:off x="868680" y="3749040"/>
            <a:ext cx="2926080" cy="1371600"/>
          </a:xfrm>
          <a:prstGeom prst="rect">
            <a:avLst/>
          </a:prstGeom>
          <a:noFill/>
          <a:ln/>
        </p:spPr>
        <p:txBody>
          <a:bodyPr wrap="square" lIns="0" tIns="0" rIns="0" bIns="0" rtlCol="0" anchor="ctr"/>
          <a:lstStyle/>
          <a:p>
            <a:pPr indent="0" marL="0">
              <a:lnSpc>
                <a:spcPts val="2000"/>
              </a:lnSpc>
              <a:buNone/>
            </a:pPr>
            <a:r>
              <a:rPr lang="en-US" sz="1350" dirty="0">
                <a:solidFill>
                  <a:srgbClr val="A7ADBA"/>
                </a:solidFill>
                <a:latin typeface="Calibri" pitchFamily="34" charset="0"/>
                <a:ea typeface="Calibri" pitchFamily="34" charset="-122"/>
                <a:cs typeface="Calibri" pitchFamily="34" charset="-120"/>
              </a:rPr>
              <a:t>The engine computes every risk &amp; opportunity from the files — collateral, concentration, liquidity, income, mandate, currency, events.</a:t>
            </a:r>
            <a:endParaRPr lang="en-US" sz="1350" dirty="0"/>
          </a:p>
        </p:txBody>
      </p:sp>
      <p:sp>
        <p:nvSpPr>
          <p:cNvPr id="9" name="Text 7"/>
          <p:cNvSpPr txBox="1"/>
          <p:nvPr/>
        </p:nvSpPr>
        <p:spPr>
          <a:xfrm>
            <a:off x="4005072" y="3429000"/>
            <a:ext cx="457200" cy="457200"/>
          </a:xfrm>
          <a:prstGeom prst="rect">
            <a:avLst/>
          </a:prstGeom>
          <a:noFill/>
          <a:ln/>
        </p:spPr>
        <p:txBody>
          <a:bodyPr wrap="square" lIns="0" tIns="0" rIns="0" bIns="0" rtlCol="0" anchor="ctr"/>
          <a:lstStyle/>
          <a:p>
            <a:pPr algn="ctr" indent="0" marL="0">
              <a:buNone/>
            </a:pPr>
            <a:r>
              <a:rPr lang="en-US" sz="2600" b="1" dirty="0">
                <a:solidFill>
                  <a:srgbClr val="C9A86A"/>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4352544" y="2194560"/>
            <a:ext cx="3566160" cy="3108960"/>
          </a:xfrm>
          <a:prstGeom prst="roundRect">
            <a:avLst>
              <a:gd name="adj" fmla="val 2647"/>
            </a:avLst>
          </a:prstGeom>
          <a:solidFill>
            <a:srgbClr val="16233A"/>
          </a:solidFill>
          <a:ln w="12700">
            <a:solidFill>
              <a:srgbClr val="2A3752"/>
            </a:solidFill>
            <a:prstDash val="solid"/>
          </a:ln>
        </p:spPr>
      </p:sp>
      <p:sp>
        <p:nvSpPr>
          <p:cNvPr id="11" name="Shape 9"/>
          <p:cNvSpPr/>
          <p:nvPr/>
        </p:nvSpPr>
        <p:spPr>
          <a:xfrm>
            <a:off x="4672584" y="2514600"/>
            <a:ext cx="457200" cy="457200"/>
          </a:xfrm>
          <a:prstGeom prst="roundRect">
            <a:avLst>
              <a:gd name="adj" fmla="val 10000"/>
            </a:avLst>
          </a:prstGeom>
          <a:solidFill>
            <a:srgbClr val="C9A86A"/>
          </a:solidFill>
          <a:ln/>
        </p:spPr>
      </p:sp>
      <p:sp>
        <p:nvSpPr>
          <p:cNvPr id="12" name="Text 10"/>
          <p:cNvSpPr txBox="1"/>
          <p:nvPr/>
        </p:nvSpPr>
        <p:spPr>
          <a:xfrm>
            <a:off x="4672584" y="2514600"/>
            <a:ext cx="457200" cy="457200"/>
          </a:xfrm>
          <a:prstGeom prst="rect">
            <a:avLst/>
          </a:prstGeom>
          <a:noFill/>
          <a:ln/>
        </p:spPr>
        <p:txBody>
          <a:bodyPr wrap="square" lIns="0" tIns="0" rIns="0" bIns="0" rtlCol="0" anchor="ctr"/>
          <a:lstStyle/>
          <a:p>
            <a:pPr algn="ctr" indent="0" marL="0">
              <a:buNone/>
            </a:pPr>
            <a:r>
              <a:rPr lang="en-US" sz="1300" b="1" dirty="0">
                <a:solidFill>
                  <a:srgbClr val="0C1320"/>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4672584" y="3154680"/>
            <a:ext cx="2926080" cy="457200"/>
          </a:xfrm>
          <a:prstGeom prst="rect">
            <a:avLst/>
          </a:prstGeom>
          <a:noFill/>
          <a:ln/>
        </p:spPr>
        <p:txBody>
          <a:bodyPr wrap="square" lIns="0" tIns="0" rIns="0" bIns="0" rtlCol="0" anchor="ctr"/>
          <a:lstStyle/>
          <a:p>
            <a:pPr indent="0" marL="0">
              <a:buNone/>
            </a:pPr>
            <a:r>
              <a:rPr lang="en-US" sz="2200" b="1" dirty="0">
                <a:solidFill>
                  <a:srgbClr val="ECE7DD"/>
                </a:solidFill>
                <a:latin typeface="Cambria" pitchFamily="34" charset="0"/>
                <a:ea typeface="Cambria" pitchFamily="34" charset="-122"/>
                <a:cs typeface="Cambria" pitchFamily="34" charset="-120"/>
              </a:rPr>
              <a:t>Understanding</a:t>
            </a:r>
            <a:endParaRPr lang="en-US" sz="2200" dirty="0"/>
          </a:p>
        </p:txBody>
      </p:sp>
      <p:sp>
        <p:nvSpPr>
          <p:cNvPr id="14" name="Text 12"/>
          <p:cNvSpPr txBox="1"/>
          <p:nvPr/>
        </p:nvSpPr>
        <p:spPr>
          <a:xfrm>
            <a:off x="4672584" y="3749040"/>
            <a:ext cx="2926080" cy="1371600"/>
          </a:xfrm>
          <a:prstGeom prst="rect">
            <a:avLst/>
          </a:prstGeom>
          <a:noFill/>
          <a:ln/>
        </p:spPr>
        <p:txBody>
          <a:bodyPr wrap="square" lIns="0" tIns="0" rIns="0" bIns="0" rtlCol="0" anchor="ctr"/>
          <a:lstStyle/>
          <a:p>
            <a:pPr indent="0" marL="0">
              <a:lnSpc>
                <a:spcPts val="2000"/>
              </a:lnSpc>
              <a:buNone/>
            </a:pPr>
            <a:r>
              <a:rPr lang="en-US" sz="1350" dirty="0">
                <a:solidFill>
                  <a:srgbClr val="A7ADBA"/>
                </a:solidFill>
                <a:latin typeface="Calibri" pitchFamily="34" charset="0"/>
                <a:ea typeface="Calibri" pitchFamily="34" charset="-122"/>
                <a:cs typeface="Calibri" pitchFamily="34" charset="-120"/>
              </a:rPr>
              <a:t>A grounded explanation turns those facts into a plain-English read an RM can defend — what's happening and why it matters to THIS client.</a:t>
            </a:r>
            <a:endParaRPr lang="en-US" sz="1350" dirty="0"/>
          </a:p>
        </p:txBody>
      </p:sp>
      <p:sp>
        <p:nvSpPr>
          <p:cNvPr id="15" name="Text 13"/>
          <p:cNvSpPr txBox="1"/>
          <p:nvPr/>
        </p:nvSpPr>
        <p:spPr>
          <a:xfrm>
            <a:off x="7808976" y="3429000"/>
            <a:ext cx="457200" cy="457200"/>
          </a:xfrm>
          <a:prstGeom prst="rect">
            <a:avLst/>
          </a:prstGeom>
          <a:noFill/>
          <a:ln/>
        </p:spPr>
        <p:txBody>
          <a:bodyPr wrap="square" lIns="0" tIns="0" rIns="0" bIns="0" rtlCol="0" anchor="ctr"/>
          <a:lstStyle/>
          <a:p>
            <a:pPr algn="ctr" indent="0" marL="0">
              <a:buNone/>
            </a:pPr>
            <a:r>
              <a:rPr lang="en-US" sz="2600" b="1" dirty="0">
                <a:solidFill>
                  <a:srgbClr val="C9A86A"/>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8156448" y="2194560"/>
            <a:ext cx="3566160" cy="3108960"/>
          </a:xfrm>
          <a:prstGeom prst="roundRect">
            <a:avLst>
              <a:gd name="adj" fmla="val 2647"/>
            </a:avLst>
          </a:prstGeom>
          <a:solidFill>
            <a:srgbClr val="16233A"/>
          </a:solidFill>
          <a:ln w="12700">
            <a:solidFill>
              <a:srgbClr val="2A3752"/>
            </a:solidFill>
            <a:prstDash val="solid"/>
          </a:ln>
        </p:spPr>
      </p:sp>
      <p:sp>
        <p:nvSpPr>
          <p:cNvPr id="17" name="Shape 15"/>
          <p:cNvSpPr/>
          <p:nvPr/>
        </p:nvSpPr>
        <p:spPr>
          <a:xfrm>
            <a:off x="8476488" y="2514600"/>
            <a:ext cx="457200" cy="457200"/>
          </a:xfrm>
          <a:prstGeom prst="roundRect">
            <a:avLst>
              <a:gd name="adj" fmla="val 10000"/>
            </a:avLst>
          </a:prstGeom>
          <a:solidFill>
            <a:srgbClr val="C9A86A"/>
          </a:solidFill>
          <a:ln/>
        </p:spPr>
      </p:sp>
      <p:sp>
        <p:nvSpPr>
          <p:cNvPr id="18" name="Text 16"/>
          <p:cNvSpPr txBox="1"/>
          <p:nvPr/>
        </p:nvSpPr>
        <p:spPr>
          <a:xfrm>
            <a:off x="8476488" y="2514600"/>
            <a:ext cx="457200" cy="457200"/>
          </a:xfrm>
          <a:prstGeom prst="rect">
            <a:avLst/>
          </a:prstGeom>
          <a:noFill/>
          <a:ln/>
        </p:spPr>
        <p:txBody>
          <a:bodyPr wrap="square" lIns="0" tIns="0" rIns="0" bIns="0" rtlCol="0" anchor="ctr"/>
          <a:lstStyle/>
          <a:p>
            <a:pPr algn="ctr" indent="0" marL="0">
              <a:buNone/>
            </a:pPr>
            <a:r>
              <a:rPr lang="en-US" sz="1300" b="1" dirty="0">
                <a:solidFill>
                  <a:srgbClr val="0C1320"/>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476488" y="3154680"/>
            <a:ext cx="2926080" cy="457200"/>
          </a:xfrm>
          <a:prstGeom prst="rect">
            <a:avLst/>
          </a:prstGeom>
          <a:noFill/>
          <a:ln/>
        </p:spPr>
        <p:txBody>
          <a:bodyPr wrap="square" lIns="0" tIns="0" rIns="0" bIns="0" rtlCol="0" anchor="ctr"/>
          <a:lstStyle/>
          <a:p>
            <a:pPr indent="0" marL="0">
              <a:buNone/>
            </a:pPr>
            <a:r>
              <a:rPr lang="en-US" sz="2200" b="1" dirty="0">
                <a:solidFill>
                  <a:srgbClr val="ECE7DD"/>
                </a:solidFill>
                <a:latin typeface="Cambria" pitchFamily="34" charset="0"/>
                <a:ea typeface="Cambria" pitchFamily="34" charset="-122"/>
                <a:cs typeface="Cambria" pitchFamily="34" charset="-120"/>
              </a:rPr>
              <a:t>Decision</a:t>
            </a:r>
            <a:endParaRPr lang="en-US" sz="2200" dirty="0"/>
          </a:p>
        </p:txBody>
      </p:sp>
      <p:sp>
        <p:nvSpPr>
          <p:cNvPr id="20" name="Text 18"/>
          <p:cNvSpPr txBox="1"/>
          <p:nvPr/>
        </p:nvSpPr>
        <p:spPr>
          <a:xfrm>
            <a:off x="8476488" y="3749040"/>
            <a:ext cx="2926080" cy="1371600"/>
          </a:xfrm>
          <a:prstGeom prst="rect">
            <a:avLst/>
          </a:prstGeom>
          <a:noFill/>
          <a:ln/>
        </p:spPr>
        <p:txBody>
          <a:bodyPr wrap="square" lIns="0" tIns="0" rIns="0" bIns="0" rtlCol="0" anchor="ctr"/>
          <a:lstStyle/>
          <a:p>
            <a:pPr indent="0" marL="0">
              <a:lnSpc>
                <a:spcPts val="2000"/>
              </a:lnSpc>
              <a:buNone/>
            </a:pPr>
            <a:r>
              <a:rPr lang="en-US" sz="1350" dirty="0">
                <a:solidFill>
                  <a:srgbClr val="A7ADBA"/>
                </a:solidFill>
                <a:latin typeface="Calibri" pitchFamily="34" charset="0"/>
                <a:ea typeface="Calibri" pitchFamily="34" charset="-122"/>
                <a:cs typeface="Calibri" pitchFamily="34" charset="-120"/>
              </a:rPr>
              <a:t>The RM triages the whole book, drills into a client, and accepts, edits or dismisses each insight. She stays in control; she owns the advice.</a:t>
            </a:r>
            <a:endParaRPr lang="en-US" sz="1350" dirty="0"/>
          </a:p>
        </p:txBody>
      </p:sp>
      <p:sp>
        <p:nvSpPr>
          <p:cNvPr id="21" name="Text 19"/>
          <p:cNvSpPr txBox="1"/>
          <p:nvPr/>
        </p:nvSpPr>
        <p:spPr>
          <a:xfrm>
            <a:off x="548640" y="5623560"/>
            <a:ext cx="10972800" cy="457200"/>
          </a:xfrm>
          <a:prstGeom prst="rect">
            <a:avLst/>
          </a:prstGeom>
          <a:noFill/>
          <a:ln/>
        </p:spPr>
        <p:txBody>
          <a:bodyPr wrap="square" lIns="0" tIns="0" rIns="0" bIns="0" rtlCol="0" anchor="ctr"/>
          <a:lstStyle/>
          <a:p>
            <a:pPr indent="0" marL="0">
              <a:buNone/>
            </a:pPr>
            <a:r>
              <a:rPr lang="en-US" sz="1500" b="1" dirty="0">
                <a:solidFill>
                  <a:srgbClr val="C9A86A"/>
                </a:solidFill>
                <a:latin typeface="Calibri" pitchFamily="34" charset="0"/>
                <a:ea typeface="Calibri" pitchFamily="34" charset="-122"/>
                <a:cs typeface="Calibri" pitchFamily="34" charset="-120"/>
              </a:rPr>
              <a:t>The differentiator:  </a:t>
            </a:r>
            <a:pPr indent="0" marL="0">
              <a:buNone/>
            </a:pPr>
            <a:r>
              <a:rPr lang="en-US" sz="1500" dirty="0">
                <a:solidFill>
                  <a:srgbClr val="ECE7DD"/>
                </a:solidFill>
                <a:latin typeface="Calibri" pitchFamily="34" charset="0"/>
                <a:ea typeface="Calibri" pitchFamily="34" charset="-122"/>
                <a:cs typeface="Calibri" pitchFamily="34" charset="-120"/>
              </a:rPr>
              <a:t>the deterministic engine decides what is true; the language model only explains it.</a:t>
            </a:r>
            <a:endParaRPr lang="en-US" sz="1500" dirty="0"/>
          </a:p>
        </p:txBody>
      </p:sp>
      <p:sp>
        <p:nvSpPr>
          <p:cNvPr id="22" name="Text 2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7C8492"/>
                </a:solidFill>
                <a:latin typeface="Calibri" pitchFamily="34" charset="0"/>
                <a:ea typeface="Calibri" pitchFamily="34" charset="-122"/>
                <a:cs typeface="Calibri" pitchFamily="34" charset="-120"/>
              </a:rPr>
              <a:t>Wealth Intelligence · Julius Baer · Track #1</a:t>
            </a:r>
            <a:endParaRPr lang="en-US" sz="900" dirty="0"/>
          </a:p>
        </p:txBody>
      </p:sp>
      <p:sp>
        <p:nvSpPr>
          <p:cNvPr id="23" name="Text 21"/>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7C8492"/>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320"/>
        </a:solidFill>
      </p:bgPr>
    </p:bg>
    <p:spTree>
      <p:nvGrpSpPr>
        <p:cNvPr id="1" name=""/>
        <p:cNvGrpSpPr/>
        <p:nvPr/>
      </p:nvGrpSpPr>
      <p:grpSpPr>
        <a:xfrm>
          <a:off x="0" y="0"/>
          <a:ext cx="0" cy="0"/>
          <a:chOff x="0" y="0"/>
          <a:chExt cx="0" cy="0"/>
        </a:xfrm>
      </p:grpSpPr>
      <p:sp>
        <p:nvSpPr>
          <p:cNvPr id="2" name="Text 0"/>
          <p:cNvSpPr txBox="1"/>
          <p:nvPr/>
        </p:nvSpPr>
        <p:spPr>
          <a:xfrm>
            <a:off x="566928" y="457200"/>
            <a:ext cx="9144000" cy="274320"/>
          </a:xfrm>
          <a:prstGeom prst="rect">
            <a:avLst/>
          </a:prstGeom>
          <a:noFill/>
          <a:ln/>
        </p:spPr>
        <p:txBody>
          <a:bodyPr wrap="square" lIns="0" tIns="0" rIns="0" bIns="0" rtlCol="0" anchor="ctr"/>
          <a:lstStyle/>
          <a:p>
            <a:pPr indent="0" marL="0">
              <a:buNone/>
            </a:pPr>
            <a:r>
              <a:rPr lang="en-US" sz="1150" b="1" spc="300" kern="0" dirty="0">
                <a:solidFill>
                  <a:srgbClr val="C9A86A"/>
                </a:solidFill>
                <a:latin typeface="Calibri" pitchFamily="34" charset="0"/>
                <a:ea typeface="Calibri" pitchFamily="34" charset="-122"/>
                <a:cs typeface="Calibri" pitchFamily="34" charset="-120"/>
              </a:rPr>
              <a:t>03 · THE PRODUCT</a:t>
            </a:r>
            <a:endParaRPr lang="en-US" sz="1150" dirty="0"/>
          </a:p>
        </p:txBody>
      </p:sp>
      <p:sp>
        <p:nvSpPr>
          <p:cNvPr id="3" name="Text 1"/>
          <p:cNvSpPr txBox="1"/>
          <p:nvPr/>
        </p:nvSpPr>
        <p:spPr>
          <a:xfrm>
            <a:off x="548640" y="749808"/>
            <a:ext cx="10972800" cy="914400"/>
          </a:xfrm>
          <a:prstGeom prst="rect">
            <a:avLst/>
          </a:prstGeom>
          <a:noFill/>
          <a:ln/>
        </p:spPr>
        <p:txBody>
          <a:bodyPr wrap="square" lIns="0" tIns="0" rIns="0" bIns="0" rtlCol="0" anchor="ctr"/>
          <a:lstStyle/>
          <a:p>
            <a:pPr indent="0" marL="0">
              <a:lnSpc>
                <a:spcPts val="3360"/>
              </a:lnSpc>
              <a:buNone/>
            </a:pPr>
            <a:r>
              <a:rPr lang="en-US" sz="3200" b="1" dirty="0">
                <a:solidFill>
                  <a:srgbClr val="ECE7DD"/>
                </a:solidFill>
                <a:latin typeface="Cambria" pitchFamily="34" charset="0"/>
                <a:ea typeface="Cambria" pitchFamily="34" charset="-122"/>
                <a:cs typeface="Cambria" pitchFamily="34" charset="-120"/>
              </a:rPr>
              <a:t>The RM workbench — who to call first, and why</a:t>
            </a:r>
            <a:endParaRPr lang="en-US" sz="3200" dirty="0"/>
          </a:p>
        </p:txBody>
      </p:sp>
      <p:pic>
        <p:nvPicPr>
          <p:cNvPr id="4" name="Image 0" descr="/tmp/claude-0/-home-user-juliusbaer/ce358b8c-70a4-5ca7-9728-984bd98dfdd2/scratchpad/deck_workbench.png">    </p:cNvPr>
          <p:cNvPicPr>
            <a:picLocks noChangeAspect="1"/>
          </p:cNvPicPr>
          <p:nvPr/>
        </p:nvPicPr>
        <p:blipFill>
          <a:blip r:embed="rId1"/>
          <a:stretch>
            <a:fillRect/>
          </a:stretch>
        </p:blipFill>
        <p:spPr>
          <a:xfrm>
            <a:off x="548640" y="1691640"/>
            <a:ext cx="8412480" cy="5842000"/>
          </a:xfrm>
          <a:prstGeom prst="ellipse">
            <a:avLst/>
          </a:prstGeom>
        </p:spPr>
      </p:pic>
      <p:sp>
        <p:nvSpPr>
          <p:cNvPr id="5" name="Text 2"/>
          <p:cNvSpPr txBox="1"/>
          <p:nvPr/>
        </p:nvSpPr>
        <p:spPr>
          <a:xfrm>
            <a:off x="9144000" y="1737360"/>
            <a:ext cx="2651760" cy="320040"/>
          </a:xfrm>
          <a:prstGeom prst="rect">
            <a:avLst/>
          </a:prstGeom>
          <a:noFill/>
          <a:ln/>
        </p:spPr>
        <p:txBody>
          <a:bodyPr wrap="square" lIns="0" tIns="0" rIns="0" bIns="0" rtlCol="0" anchor="ctr"/>
          <a:lstStyle/>
          <a:p>
            <a:pPr indent="0" marL="0">
              <a:buNone/>
            </a:pPr>
            <a:r>
              <a:rPr lang="en-US" sz="1500" b="1" dirty="0">
                <a:solidFill>
                  <a:srgbClr val="C9A86A"/>
                </a:solidFill>
                <a:latin typeface="Cambria" pitchFamily="34" charset="0"/>
                <a:ea typeface="Cambria" pitchFamily="34" charset="-122"/>
                <a:cs typeface="Cambria" pitchFamily="34" charset="-120"/>
              </a:rPr>
              <a:t>Call queue</a:t>
            </a:r>
            <a:endParaRPr lang="en-US" sz="1500" dirty="0"/>
          </a:p>
        </p:txBody>
      </p:sp>
      <p:sp>
        <p:nvSpPr>
          <p:cNvPr id="6" name="Text 3"/>
          <p:cNvSpPr txBox="1"/>
          <p:nvPr/>
        </p:nvSpPr>
        <p:spPr>
          <a:xfrm>
            <a:off x="9144000" y="2066544"/>
            <a:ext cx="2697480" cy="777240"/>
          </a:xfrm>
          <a:prstGeom prst="rect">
            <a:avLst/>
          </a:prstGeom>
          <a:noFill/>
          <a:ln/>
        </p:spPr>
        <p:txBody>
          <a:bodyPr wrap="square" lIns="0" tIns="0" rIns="0" bIns="0" rtlCol="0" anchor="ctr"/>
          <a:lstStyle/>
          <a:p>
            <a:pPr indent="0" marL="0">
              <a:lnSpc>
                <a:spcPts val="1600"/>
              </a:lnSpc>
              <a:buNone/>
            </a:pPr>
            <a:r>
              <a:rPr lang="en-US" sz="1150" dirty="0">
                <a:solidFill>
                  <a:srgbClr val="A7ADBA"/>
                </a:solidFill>
                <a:latin typeface="Calibri" pitchFamily="34" charset="0"/>
                <a:ea typeface="Calibri" pitchFamily="34" charset="-122"/>
                <a:cs typeface="Calibri" pitchFamily="34" charset="-120"/>
              </a:rPr>
              <a:t>20 clients ranked by Σ severity² — filterable, sortable, searchable.</a:t>
            </a:r>
            <a:endParaRPr lang="en-US" sz="1150" dirty="0"/>
          </a:p>
        </p:txBody>
      </p:sp>
      <p:sp>
        <p:nvSpPr>
          <p:cNvPr id="7" name="Text 4"/>
          <p:cNvSpPr txBox="1"/>
          <p:nvPr/>
        </p:nvSpPr>
        <p:spPr>
          <a:xfrm>
            <a:off x="9144000" y="2880360"/>
            <a:ext cx="2651760" cy="320040"/>
          </a:xfrm>
          <a:prstGeom prst="rect">
            <a:avLst/>
          </a:prstGeom>
          <a:noFill/>
          <a:ln/>
        </p:spPr>
        <p:txBody>
          <a:bodyPr wrap="square" lIns="0" tIns="0" rIns="0" bIns="0" rtlCol="0" anchor="ctr"/>
          <a:lstStyle/>
          <a:p>
            <a:pPr indent="0" marL="0">
              <a:buNone/>
            </a:pPr>
            <a:r>
              <a:rPr lang="en-US" sz="1500" b="1" dirty="0">
                <a:solidFill>
                  <a:srgbClr val="C9A86A"/>
                </a:solidFill>
                <a:latin typeface="Cambria" pitchFamily="34" charset="0"/>
                <a:ea typeface="Cambria" pitchFamily="34" charset="-122"/>
                <a:cs typeface="Cambria" pitchFamily="34" charset="-120"/>
              </a:rPr>
              <a:t>Live dossier</a:t>
            </a:r>
            <a:endParaRPr lang="en-US" sz="1500" dirty="0"/>
          </a:p>
        </p:txBody>
      </p:sp>
      <p:sp>
        <p:nvSpPr>
          <p:cNvPr id="8" name="Text 5"/>
          <p:cNvSpPr txBox="1"/>
          <p:nvPr/>
        </p:nvSpPr>
        <p:spPr>
          <a:xfrm>
            <a:off x="9144000" y="3209544"/>
            <a:ext cx="2697480" cy="777240"/>
          </a:xfrm>
          <a:prstGeom prst="rect">
            <a:avLst/>
          </a:prstGeom>
          <a:noFill/>
          <a:ln/>
        </p:spPr>
        <p:txBody>
          <a:bodyPr wrap="square" lIns="0" tIns="0" rIns="0" bIns="0" rtlCol="0" anchor="ctr"/>
          <a:lstStyle/>
          <a:p>
            <a:pPr indent="0" marL="0">
              <a:lnSpc>
                <a:spcPts val="1600"/>
              </a:lnSpc>
              <a:buNone/>
            </a:pPr>
            <a:r>
              <a:rPr lang="en-US" sz="1150" dirty="0">
                <a:solidFill>
                  <a:srgbClr val="A7ADBA"/>
                </a:solidFill>
                <a:latin typeface="Calibri" pitchFamily="34" charset="0"/>
                <a:ea typeface="Calibri" pitchFamily="34" charset="-122"/>
                <a:cs typeface="Calibri" pitchFamily="34" charset="-120"/>
              </a:rPr>
              <a:t>Value across snapshots, an LTV gauge, look-through exposure.</a:t>
            </a:r>
            <a:endParaRPr lang="en-US" sz="1150" dirty="0"/>
          </a:p>
        </p:txBody>
      </p:sp>
      <p:sp>
        <p:nvSpPr>
          <p:cNvPr id="9" name="Text 6"/>
          <p:cNvSpPr txBox="1"/>
          <p:nvPr/>
        </p:nvSpPr>
        <p:spPr>
          <a:xfrm>
            <a:off x="9144000" y="4023360"/>
            <a:ext cx="2651760" cy="320040"/>
          </a:xfrm>
          <a:prstGeom prst="rect">
            <a:avLst/>
          </a:prstGeom>
          <a:noFill/>
          <a:ln/>
        </p:spPr>
        <p:txBody>
          <a:bodyPr wrap="square" lIns="0" tIns="0" rIns="0" bIns="0" rtlCol="0" anchor="ctr"/>
          <a:lstStyle/>
          <a:p>
            <a:pPr indent="0" marL="0">
              <a:buNone/>
            </a:pPr>
            <a:r>
              <a:rPr lang="en-US" sz="1500" b="1" dirty="0">
                <a:solidFill>
                  <a:srgbClr val="C9A86A"/>
                </a:solidFill>
                <a:latin typeface="Cambria" pitchFamily="34" charset="0"/>
                <a:ea typeface="Cambria" pitchFamily="34" charset="-122"/>
                <a:cs typeface="Cambria" pitchFamily="34" charset="-120"/>
              </a:rPr>
              <a:t>Every 'Why?'</a:t>
            </a:r>
            <a:endParaRPr lang="en-US" sz="1500" dirty="0"/>
          </a:p>
        </p:txBody>
      </p:sp>
      <p:sp>
        <p:nvSpPr>
          <p:cNvPr id="10" name="Text 7"/>
          <p:cNvSpPr txBox="1"/>
          <p:nvPr/>
        </p:nvSpPr>
        <p:spPr>
          <a:xfrm>
            <a:off x="9144000" y="4352544"/>
            <a:ext cx="2697480" cy="777240"/>
          </a:xfrm>
          <a:prstGeom prst="rect">
            <a:avLst/>
          </a:prstGeom>
          <a:noFill/>
          <a:ln/>
        </p:spPr>
        <p:txBody>
          <a:bodyPr wrap="square" lIns="0" tIns="0" rIns="0" bIns="0" rtlCol="0" anchor="ctr"/>
          <a:lstStyle/>
          <a:p>
            <a:pPr indent="0" marL="0">
              <a:lnSpc>
                <a:spcPts val="1600"/>
              </a:lnSpc>
              <a:buNone/>
            </a:pPr>
            <a:r>
              <a:rPr lang="en-US" sz="1150" dirty="0">
                <a:solidFill>
                  <a:srgbClr val="A7ADBA"/>
                </a:solidFill>
                <a:latin typeface="Calibri" pitchFamily="34" charset="0"/>
                <a:ea typeface="Calibri" pitchFamily="34" charset="-122"/>
                <a:cs typeface="Calibri" pitchFamily="34" charset="-120"/>
              </a:rPr>
              <a:t>Each signal opens to its exact facts and source rows.</a:t>
            </a:r>
            <a:endParaRPr lang="en-US" sz="1150" dirty="0"/>
          </a:p>
        </p:txBody>
      </p:sp>
      <p:sp>
        <p:nvSpPr>
          <p:cNvPr id="11" name="Text 8"/>
          <p:cNvSpPr txBox="1"/>
          <p:nvPr/>
        </p:nvSpPr>
        <p:spPr>
          <a:xfrm>
            <a:off x="9144000" y="5166360"/>
            <a:ext cx="2651760" cy="320040"/>
          </a:xfrm>
          <a:prstGeom prst="rect">
            <a:avLst/>
          </a:prstGeom>
          <a:noFill/>
          <a:ln/>
        </p:spPr>
        <p:txBody>
          <a:bodyPr wrap="square" lIns="0" tIns="0" rIns="0" bIns="0" rtlCol="0" anchor="ctr"/>
          <a:lstStyle/>
          <a:p>
            <a:pPr indent="0" marL="0">
              <a:buNone/>
            </a:pPr>
            <a:r>
              <a:rPr lang="en-US" sz="1500" b="1" dirty="0">
                <a:solidFill>
                  <a:srgbClr val="C9A86A"/>
                </a:solidFill>
                <a:latin typeface="Cambria" pitchFamily="34" charset="0"/>
                <a:ea typeface="Cambria" pitchFamily="34" charset="-122"/>
                <a:cs typeface="Cambria" pitchFamily="34" charset="-120"/>
              </a:rPr>
              <a:t>In control</a:t>
            </a:r>
            <a:endParaRPr lang="en-US" sz="1500" dirty="0"/>
          </a:p>
        </p:txBody>
      </p:sp>
      <p:sp>
        <p:nvSpPr>
          <p:cNvPr id="12" name="Text 9"/>
          <p:cNvSpPr txBox="1"/>
          <p:nvPr/>
        </p:nvSpPr>
        <p:spPr>
          <a:xfrm>
            <a:off x="9144000" y="5495544"/>
            <a:ext cx="2697480" cy="777240"/>
          </a:xfrm>
          <a:prstGeom prst="rect">
            <a:avLst/>
          </a:prstGeom>
          <a:noFill/>
          <a:ln/>
        </p:spPr>
        <p:txBody>
          <a:bodyPr wrap="square" lIns="0" tIns="0" rIns="0" bIns="0" rtlCol="0" anchor="ctr"/>
          <a:lstStyle/>
          <a:p>
            <a:pPr indent="0" marL="0">
              <a:lnSpc>
                <a:spcPts val="1600"/>
              </a:lnSpc>
              <a:buNone/>
            </a:pPr>
            <a:r>
              <a:rPr lang="en-US" sz="1150" dirty="0">
                <a:solidFill>
                  <a:srgbClr val="A7ADBA"/>
                </a:solidFill>
                <a:latin typeface="Calibri" pitchFamily="34" charset="0"/>
                <a:ea typeface="Calibri" pitchFamily="34" charset="-122"/>
                <a:cs typeface="Calibri" pitchFamily="34" charset="-120"/>
              </a:rPr>
              <a:t>Accept · Edit · Dismiss feeds a live meeting-prep list.</a:t>
            </a:r>
            <a:endParaRPr lang="en-US" sz="1150" dirty="0"/>
          </a:p>
        </p:txBody>
      </p:sp>
      <p:sp>
        <p:nvSpPr>
          <p:cNvPr id="13" name="Text 1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7C8492"/>
                </a:solidFill>
                <a:latin typeface="Calibri" pitchFamily="34" charset="0"/>
                <a:ea typeface="Calibri" pitchFamily="34" charset="-122"/>
                <a:cs typeface="Calibri" pitchFamily="34" charset="-120"/>
              </a:rPr>
              <a:t>Wealth Intelligence · Julius Baer · Track #1</a:t>
            </a:r>
            <a:endParaRPr lang="en-US" sz="900" dirty="0"/>
          </a:p>
        </p:txBody>
      </p:sp>
      <p:sp>
        <p:nvSpPr>
          <p:cNvPr id="14" name="Text 11"/>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7C8492"/>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320"/>
        </a:solidFill>
      </p:bgPr>
    </p:bg>
    <p:spTree>
      <p:nvGrpSpPr>
        <p:cNvPr id="1" name=""/>
        <p:cNvGrpSpPr/>
        <p:nvPr/>
      </p:nvGrpSpPr>
      <p:grpSpPr>
        <a:xfrm>
          <a:off x="0" y="0"/>
          <a:ext cx="0" cy="0"/>
          <a:chOff x="0" y="0"/>
          <a:chExt cx="0" cy="0"/>
        </a:xfrm>
      </p:grpSpPr>
      <p:sp>
        <p:nvSpPr>
          <p:cNvPr id="2" name="Text 0"/>
          <p:cNvSpPr txBox="1"/>
          <p:nvPr/>
        </p:nvSpPr>
        <p:spPr>
          <a:xfrm>
            <a:off x="566928" y="457200"/>
            <a:ext cx="9144000" cy="274320"/>
          </a:xfrm>
          <a:prstGeom prst="rect">
            <a:avLst/>
          </a:prstGeom>
          <a:noFill/>
          <a:ln/>
        </p:spPr>
        <p:txBody>
          <a:bodyPr wrap="square" lIns="0" tIns="0" rIns="0" bIns="0" rtlCol="0" anchor="ctr"/>
          <a:lstStyle/>
          <a:p>
            <a:pPr indent="0" marL="0">
              <a:buNone/>
            </a:pPr>
            <a:r>
              <a:rPr lang="en-US" sz="1150" b="1" spc="300" kern="0" dirty="0">
                <a:solidFill>
                  <a:srgbClr val="C9A86A"/>
                </a:solidFill>
                <a:latin typeface="Calibri" pitchFamily="34" charset="0"/>
                <a:ea typeface="Calibri" pitchFamily="34" charset="-122"/>
                <a:cs typeface="Calibri" pitchFamily="34" charset="-120"/>
              </a:rPr>
              <a:t>04 · HOW IT WORKS · ARCHITECTURE</a:t>
            </a:r>
            <a:endParaRPr lang="en-US" sz="1150" dirty="0"/>
          </a:p>
        </p:txBody>
      </p:sp>
      <p:sp>
        <p:nvSpPr>
          <p:cNvPr id="3" name="Text 1"/>
          <p:cNvSpPr txBox="1"/>
          <p:nvPr/>
        </p:nvSpPr>
        <p:spPr>
          <a:xfrm>
            <a:off x="548640" y="749808"/>
            <a:ext cx="10972800" cy="914400"/>
          </a:xfrm>
          <a:prstGeom prst="rect">
            <a:avLst/>
          </a:prstGeom>
          <a:noFill/>
          <a:ln/>
        </p:spPr>
        <p:txBody>
          <a:bodyPr wrap="square" lIns="0" tIns="0" rIns="0" bIns="0" rtlCol="0" anchor="ctr"/>
          <a:lstStyle/>
          <a:p>
            <a:pPr indent="0" marL="0">
              <a:lnSpc>
                <a:spcPts val="3360"/>
              </a:lnSpc>
              <a:buNone/>
            </a:pPr>
            <a:r>
              <a:rPr lang="en-US" sz="3200" b="1" dirty="0">
                <a:solidFill>
                  <a:srgbClr val="ECE7DD"/>
                </a:solidFill>
                <a:latin typeface="Cambria" pitchFamily="34" charset="0"/>
                <a:ea typeface="Cambria" pitchFamily="34" charset="-122"/>
                <a:cs typeface="Cambria" pitchFamily="34" charset="-120"/>
              </a:rPr>
              <a:t>One path down: data → engine → boundary → explanation → RM</a:t>
            </a:r>
            <a:endParaRPr lang="en-US" sz="3200" dirty="0"/>
          </a:p>
        </p:txBody>
      </p:sp>
      <p:pic>
        <p:nvPicPr>
          <p:cNvPr id="4" name="Image 0" descr="/tmp/claude-0/-home-user-juliusbaer/ce358b8c-70a4-5ca7-9728-984bd98dfdd2/scratchpad/deck_architecture.png">    </p:cNvPr>
          <p:cNvPicPr>
            <a:picLocks noChangeAspect="1"/>
          </p:cNvPicPr>
          <p:nvPr/>
        </p:nvPicPr>
        <p:blipFill>
          <a:blip r:embed="rId1"/>
          <a:srcRect l="0" r="0" t="-13376" b="-13376"/>
          <a:stretch/>
        </p:blipFill>
        <p:spPr>
          <a:xfrm>
            <a:off x="7360920" y="1051560"/>
            <a:ext cx="4343400" cy="5577840"/>
          </a:xfrm>
          <a:prstGeom prst="rect">
            <a:avLst/>
          </a:prstGeom>
        </p:spPr>
      </p:pic>
      <p:sp>
        <p:nvSpPr>
          <p:cNvPr id="5" name="Shape 2"/>
          <p:cNvSpPr/>
          <p:nvPr/>
        </p:nvSpPr>
        <p:spPr>
          <a:xfrm>
            <a:off x="548640" y="1755648"/>
            <a:ext cx="310896" cy="310896"/>
          </a:xfrm>
          <a:prstGeom prst="roundRect">
            <a:avLst>
              <a:gd name="adj" fmla="val 14706"/>
            </a:avLst>
          </a:prstGeom>
          <a:solidFill>
            <a:srgbClr val="C9A86A"/>
          </a:solidFill>
          <a:ln/>
        </p:spPr>
      </p:sp>
      <p:sp>
        <p:nvSpPr>
          <p:cNvPr id="6" name="Text 3"/>
          <p:cNvSpPr txBox="1"/>
          <p:nvPr/>
        </p:nvSpPr>
        <p:spPr>
          <a:xfrm>
            <a:off x="548640" y="1755648"/>
            <a:ext cx="310896" cy="310896"/>
          </a:xfrm>
          <a:prstGeom prst="rect">
            <a:avLst/>
          </a:prstGeom>
          <a:noFill/>
          <a:ln/>
        </p:spPr>
        <p:txBody>
          <a:bodyPr wrap="square" lIns="0" tIns="0" rIns="0" bIns="0" rtlCol="0" anchor="ctr"/>
          <a:lstStyle/>
          <a:p>
            <a:pPr algn="ctr" indent="0" marL="0">
              <a:buNone/>
            </a:pPr>
            <a:r>
              <a:rPr lang="en-US" sz="1300" b="1" dirty="0">
                <a:solidFill>
                  <a:srgbClr val="0C1320"/>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1005840" y="1691640"/>
            <a:ext cx="6035040"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12 source files</a:t>
            </a:r>
            <a:endParaRPr lang="en-US" sz="1600" dirty="0"/>
          </a:p>
        </p:txBody>
      </p:sp>
      <p:sp>
        <p:nvSpPr>
          <p:cNvPr id="8" name="Text 5"/>
          <p:cNvSpPr txBox="1"/>
          <p:nvPr/>
        </p:nvSpPr>
        <p:spPr>
          <a:xfrm>
            <a:off x="1005840" y="2057400"/>
            <a:ext cx="6126480" cy="731520"/>
          </a:xfrm>
          <a:prstGeom prst="rect">
            <a:avLst/>
          </a:prstGeom>
          <a:noFill/>
          <a:ln/>
        </p:spPr>
        <p:txBody>
          <a:bodyPr wrap="square" lIns="0" tIns="0" rIns="0" bIns="0" rtlCol="0" anchor="ctr"/>
          <a:lstStyle/>
          <a:p>
            <a:pPr indent="0" marL="0">
              <a:lnSpc>
                <a:spcPts val="1700"/>
              </a:lnSpc>
              <a:buNone/>
            </a:pPr>
            <a:r>
              <a:rPr lang="en-US" sz="1250" dirty="0">
                <a:solidFill>
                  <a:srgbClr val="A7ADBA"/>
                </a:solidFill>
                <a:latin typeface="Calibri" pitchFamily="34" charset="0"/>
                <a:ea typeface="Calibri" pitchFamily="34" charset="-122"/>
                <a:cs typeface="Calibri" pitchFamily="34" charset="-120"/>
              </a:rPr>
              <a:t>Holdings, credit facilities, mandates, transactions, the authoritative event log, RM notes — joined into one currency-aware model.</a:t>
            </a:r>
            <a:endParaRPr lang="en-US" sz="1250" dirty="0"/>
          </a:p>
        </p:txBody>
      </p:sp>
      <p:sp>
        <p:nvSpPr>
          <p:cNvPr id="9" name="Shape 6"/>
          <p:cNvSpPr/>
          <p:nvPr/>
        </p:nvSpPr>
        <p:spPr>
          <a:xfrm>
            <a:off x="548640" y="2834640"/>
            <a:ext cx="310896" cy="310896"/>
          </a:xfrm>
          <a:prstGeom prst="roundRect">
            <a:avLst>
              <a:gd name="adj" fmla="val 14706"/>
            </a:avLst>
          </a:prstGeom>
          <a:solidFill>
            <a:srgbClr val="C9A86A"/>
          </a:solidFill>
          <a:ln/>
        </p:spPr>
      </p:sp>
      <p:sp>
        <p:nvSpPr>
          <p:cNvPr id="10" name="Text 7"/>
          <p:cNvSpPr txBox="1"/>
          <p:nvPr/>
        </p:nvSpPr>
        <p:spPr>
          <a:xfrm>
            <a:off x="548640" y="2834640"/>
            <a:ext cx="310896" cy="310896"/>
          </a:xfrm>
          <a:prstGeom prst="rect">
            <a:avLst/>
          </a:prstGeom>
          <a:noFill/>
          <a:ln/>
        </p:spPr>
        <p:txBody>
          <a:bodyPr wrap="square" lIns="0" tIns="0" rIns="0" bIns="0" rtlCol="0" anchor="ctr"/>
          <a:lstStyle/>
          <a:p>
            <a:pPr algn="ctr" indent="0" marL="0">
              <a:buNone/>
            </a:pPr>
            <a:r>
              <a:rPr lang="en-US" sz="1300" b="1" dirty="0">
                <a:solidFill>
                  <a:srgbClr val="0C1320"/>
                </a:solidFill>
                <a:latin typeface="Calibri" pitchFamily="34" charset="0"/>
                <a:ea typeface="Calibri" pitchFamily="34" charset="-122"/>
                <a:cs typeface="Calibri" pitchFamily="34" charset="-120"/>
              </a:rPr>
              <a:t>2</a:t>
            </a:r>
            <a:endParaRPr lang="en-US" sz="1300" dirty="0"/>
          </a:p>
        </p:txBody>
      </p:sp>
      <p:sp>
        <p:nvSpPr>
          <p:cNvPr id="11" name="Text 8"/>
          <p:cNvSpPr txBox="1"/>
          <p:nvPr/>
        </p:nvSpPr>
        <p:spPr>
          <a:xfrm>
            <a:off x="1005840" y="2770632"/>
            <a:ext cx="6035040"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Deterministic engine</a:t>
            </a:r>
            <a:endParaRPr lang="en-US" sz="1600" dirty="0"/>
          </a:p>
        </p:txBody>
      </p:sp>
      <p:sp>
        <p:nvSpPr>
          <p:cNvPr id="12" name="Text 9"/>
          <p:cNvSpPr txBox="1"/>
          <p:nvPr/>
        </p:nvSpPr>
        <p:spPr>
          <a:xfrm>
            <a:off x="1005840" y="3136392"/>
            <a:ext cx="6126480" cy="731520"/>
          </a:xfrm>
          <a:prstGeom prst="rect">
            <a:avLst/>
          </a:prstGeom>
          <a:noFill/>
          <a:ln/>
        </p:spPr>
        <p:txBody>
          <a:bodyPr wrap="square" lIns="0" tIns="0" rIns="0" bIns="0" rtlCol="0" anchor="ctr"/>
          <a:lstStyle/>
          <a:p>
            <a:pPr indent="0" marL="0">
              <a:lnSpc>
                <a:spcPts val="1700"/>
              </a:lnSpc>
              <a:buNone/>
            </a:pPr>
            <a:r>
              <a:rPr lang="en-US" sz="1250" dirty="0">
                <a:solidFill>
                  <a:srgbClr val="A7ADBA"/>
                </a:solidFill>
                <a:latin typeface="Calibri" pitchFamily="34" charset="0"/>
                <a:ea typeface="Calibri" pitchFamily="34" charset="-122"/>
                <a:cs typeface="Calibri" pitchFamily="34" charset="-120"/>
              </a:rPr>
              <a:t>Eight detectors compute every signal and rank the book by Σ severity². Every finding carries its facts and its source rows.</a:t>
            </a:r>
            <a:endParaRPr lang="en-US" sz="1250" dirty="0"/>
          </a:p>
        </p:txBody>
      </p:sp>
      <p:sp>
        <p:nvSpPr>
          <p:cNvPr id="13" name="Shape 10"/>
          <p:cNvSpPr/>
          <p:nvPr/>
        </p:nvSpPr>
        <p:spPr>
          <a:xfrm>
            <a:off x="548640" y="3913632"/>
            <a:ext cx="310896" cy="310896"/>
          </a:xfrm>
          <a:prstGeom prst="roundRect">
            <a:avLst>
              <a:gd name="adj" fmla="val 14706"/>
            </a:avLst>
          </a:prstGeom>
          <a:solidFill>
            <a:srgbClr val="C9A86A"/>
          </a:solidFill>
          <a:ln/>
        </p:spPr>
      </p:sp>
      <p:sp>
        <p:nvSpPr>
          <p:cNvPr id="14" name="Text 11"/>
          <p:cNvSpPr txBox="1"/>
          <p:nvPr/>
        </p:nvSpPr>
        <p:spPr>
          <a:xfrm>
            <a:off x="548640" y="3913632"/>
            <a:ext cx="310896" cy="310896"/>
          </a:xfrm>
          <a:prstGeom prst="rect">
            <a:avLst/>
          </a:prstGeom>
          <a:noFill/>
          <a:ln/>
        </p:spPr>
        <p:txBody>
          <a:bodyPr wrap="square" lIns="0" tIns="0" rIns="0" bIns="0" rtlCol="0" anchor="ctr"/>
          <a:lstStyle/>
          <a:p>
            <a:pPr algn="ctr" indent="0" marL="0">
              <a:buNone/>
            </a:pPr>
            <a:r>
              <a:rPr lang="en-US" sz="1300" b="1" dirty="0">
                <a:solidFill>
                  <a:srgbClr val="0C1320"/>
                </a:solidFill>
                <a:latin typeface="Calibri" pitchFamily="34" charset="0"/>
                <a:ea typeface="Calibri" pitchFamily="34" charset="-122"/>
                <a:cs typeface="Calibri" pitchFamily="34" charset="-120"/>
              </a:rPr>
              <a:t>3</a:t>
            </a:r>
            <a:endParaRPr lang="en-US" sz="1300" dirty="0"/>
          </a:p>
        </p:txBody>
      </p:sp>
      <p:sp>
        <p:nvSpPr>
          <p:cNvPr id="15" name="Text 12"/>
          <p:cNvSpPr txBox="1"/>
          <p:nvPr/>
        </p:nvSpPr>
        <p:spPr>
          <a:xfrm>
            <a:off x="1005840" y="3849624"/>
            <a:ext cx="6035040"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Governance boundary</a:t>
            </a:r>
            <a:endParaRPr lang="en-US" sz="1600" dirty="0"/>
          </a:p>
        </p:txBody>
      </p:sp>
      <p:sp>
        <p:nvSpPr>
          <p:cNvPr id="16" name="Text 13"/>
          <p:cNvSpPr txBox="1"/>
          <p:nvPr/>
        </p:nvSpPr>
        <p:spPr>
          <a:xfrm>
            <a:off x="1005840" y="4215384"/>
            <a:ext cx="6126480" cy="731520"/>
          </a:xfrm>
          <a:prstGeom prst="rect">
            <a:avLst/>
          </a:prstGeom>
          <a:noFill/>
          <a:ln/>
        </p:spPr>
        <p:txBody>
          <a:bodyPr wrap="square" lIns="0" tIns="0" rIns="0" bIns="0" rtlCol="0" anchor="ctr"/>
          <a:lstStyle/>
          <a:p>
            <a:pPr indent="0" marL="0">
              <a:lnSpc>
                <a:spcPts val="1700"/>
              </a:lnSpc>
              <a:buNone/>
            </a:pPr>
            <a:r>
              <a:rPr lang="en-US" sz="1250" dirty="0">
                <a:solidFill>
                  <a:srgbClr val="A7ADBA"/>
                </a:solidFill>
                <a:latin typeface="Calibri" pitchFamily="34" charset="0"/>
                <a:ea typeface="Calibri" pitchFamily="34" charset="-122"/>
                <a:cs typeface="Calibri" pitchFamily="34" charset="-120"/>
              </a:rPr>
              <a:t>Above it, everything is deterministic and auditable. Below it, a single LLM explains — handed facts, never asked to compute.</a:t>
            </a:r>
            <a:endParaRPr lang="en-US" sz="1250" dirty="0"/>
          </a:p>
        </p:txBody>
      </p:sp>
      <p:sp>
        <p:nvSpPr>
          <p:cNvPr id="17" name="Shape 14"/>
          <p:cNvSpPr/>
          <p:nvPr/>
        </p:nvSpPr>
        <p:spPr>
          <a:xfrm>
            <a:off x="548640" y="4992624"/>
            <a:ext cx="310896" cy="310896"/>
          </a:xfrm>
          <a:prstGeom prst="roundRect">
            <a:avLst>
              <a:gd name="adj" fmla="val 14706"/>
            </a:avLst>
          </a:prstGeom>
          <a:solidFill>
            <a:srgbClr val="C9A86A"/>
          </a:solidFill>
          <a:ln/>
        </p:spPr>
      </p:sp>
      <p:sp>
        <p:nvSpPr>
          <p:cNvPr id="18" name="Text 15"/>
          <p:cNvSpPr txBox="1"/>
          <p:nvPr/>
        </p:nvSpPr>
        <p:spPr>
          <a:xfrm>
            <a:off x="548640" y="4992624"/>
            <a:ext cx="310896" cy="310896"/>
          </a:xfrm>
          <a:prstGeom prst="rect">
            <a:avLst/>
          </a:prstGeom>
          <a:noFill/>
          <a:ln/>
        </p:spPr>
        <p:txBody>
          <a:bodyPr wrap="square" lIns="0" tIns="0" rIns="0" bIns="0" rtlCol="0" anchor="ctr"/>
          <a:lstStyle/>
          <a:p>
            <a:pPr algn="ctr" indent="0" marL="0">
              <a:buNone/>
            </a:pPr>
            <a:r>
              <a:rPr lang="en-US" sz="1300" b="1" dirty="0">
                <a:solidFill>
                  <a:srgbClr val="0C1320"/>
                </a:solidFill>
                <a:latin typeface="Calibri" pitchFamily="34" charset="0"/>
                <a:ea typeface="Calibri" pitchFamily="34" charset="-122"/>
                <a:cs typeface="Calibri" pitchFamily="34" charset="-120"/>
              </a:rPr>
              <a:t>4</a:t>
            </a:r>
            <a:endParaRPr lang="en-US" sz="1300" dirty="0"/>
          </a:p>
        </p:txBody>
      </p:sp>
      <p:sp>
        <p:nvSpPr>
          <p:cNvPr id="19" name="Text 16"/>
          <p:cNvSpPr txBox="1"/>
          <p:nvPr/>
        </p:nvSpPr>
        <p:spPr>
          <a:xfrm>
            <a:off x="1005840" y="4928616"/>
            <a:ext cx="6035040"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RM workbench</a:t>
            </a:r>
            <a:endParaRPr lang="en-US" sz="1600" dirty="0"/>
          </a:p>
        </p:txBody>
      </p:sp>
      <p:sp>
        <p:nvSpPr>
          <p:cNvPr id="20" name="Text 17"/>
          <p:cNvSpPr txBox="1"/>
          <p:nvPr/>
        </p:nvSpPr>
        <p:spPr>
          <a:xfrm>
            <a:off x="1005840" y="5294376"/>
            <a:ext cx="6126480" cy="731520"/>
          </a:xfrm>
          <a:prstGeom prst="rect">
            <a:avLst/>
          </a:prstGeom>
          <a:noFill/>
          <a:ln/>
        </p:spPr>
        <p:txBody>
          <a:bodyPr wrap="square" lIns="0" tIns="0" rIns="0" bIns="0" rtlCol="0" anchor="ctr"/>
          <a:lstStyle/>
          <a:p>
            <a:pPr indent="0" marL="0">
              <a:lnSpc>
                <a:spcPts val="1700"/>
              </a:lnSpc>
              <a:buNone/>
            </a:pPr>
            <a:r>
              <a:rPr lang="en-US" sz="1250" dirty="0">
                <a:solidFill>
                  <a:srgbClr val="A7ADBA"/>
                </a:solidFill>
                <a:latin typeface="Calibri" pitchFamily="34" charset="0"/>
                <a:ea typeface="Calibri" pitchFamily="34" charset="-122"/>
                <a:cs typeface="Calibri" pitchFamily="34" charset="-120"/>
              </a:rPr>
              <a:t>Triage → client story → Accept / Edit / Dismiss. The RM decides and owns the advice.</a:t>
            </a:r>
            <a:endParaRPr lang="en-US" sz="1250" dirty="0"/>
          </a:p>
        </p:txBody>
      </p:sp>
      <p:sp>
        <p:nvSpPr>
          <p:cNvPr id="21" name="Text 1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7C8492"/>
                </a:solidFill>
                <a:latin typeface="Calibri" pitchFamily="34" charset="0"/>
                <a:ea typeface="Calibri" pitchFamily="34" charset="-122"/>
                <a:cs typeface="Calibri" pitchFamily="34" charset="-120"/>
              </a:rPr>
              <a:t>Wealth Intelligence · Julius Baer · Track #1</a:t>
            </a:r>
            <a:endParaRPr lang="en-US" sz="900" dirty="0"/>
          </a:p>
        </p:txBody>
      </p:sp>
      <p:sp>
        <p:nvSpPr>
          <p:cNvPr id="22" name="Text 19"/>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7C8492"/>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320"/>
        </a:solidFill>
      </p:bgPr>
    </p:bg>
    <p:spTree>
      <p:nvGrpSpPr>
        <p:cNvPr id="1" name=""/>
        <p:cNvGrpSpPr/>
        <p:nvPr/>
      </p:nvGrpSpPr>
      <p:grpSpPr>
        <a:xfrm>
          <a:off x="0" y="0"/>
          <a:ext cx="0" cy="0"/>
          <a:chOff x="0" y="0"/>
          <a:chExt cx="0" cy="0"/>
        </a:xfrm>
      </p:grpSpPr>
      <p:sp>
        <p:nvSpPr>
          <p:cNvPr id="2" name="Text 0"/>
          <p:cNvSpPr txBox="1"/>
          <p:nvPr/>
        </p:nvSpPr>
        <p:spPr>
          <a:xfrm>
            <a:off x="566928" y="457200"/>
            <a:ext cx="9144000" cy="274320"/>
          </a:xfrm>
          <a:prstGeom prst="rect">
            <a:avLst/>
          </a:prstGeom>
          <a:noFill/>
          <a:ln/>
        </p:spPr>
        <p:txBody>
          <a:bodyPr wrap="square" lIns="0" tIns="0" rIns="0" bIns="0" rtlCol="0" anchor="ctr"/>
          <a:lstStyle/>
          <a:p>
            <a:pPr indent="0" marL="0">
              <a:buNone/>
            </a:pPr>
            <a:r>
              <a:rPr lang="en-US" sz="1150" b="1" spc="300" kern="0" dirty="0">
                <a:solidFill>
                  <a:srgbClr val="C9A86A"/>
                </a:solidFill>
                <a:latin typeface="Calibri" pitchFamily="34" charset="0"/>
                <a:ea typeface="Calibri" pitchFamily="34" charset="-122"/>
                <a:cs typeface="Calibri" pitchFamily="34" charset="-120"/>
              </a:rPr>
              <a:t>04 · HOW IT WORKS · THE ENGINE</a:t>
            </a:r>
            <a:endParaRPr lang="en-US" sz="1150" dirty="0"/>
          </a:p>
        </p:txBody>
      </p:sp>
      <p:sp>
        <p:nvSpPr>
          <p:cNvPr id="3" name="Text 1"/>
          <p:cNvSpPr txBox="1"/>
          <p:nvPr/>
        </p:nvSpPr>
        <p:spPr>
          <a:xfrm>
            <a:off x="548640" y="749808"/>
            <a:ext cx="10972800" cy="914400"/>
          </a:xfrm>
          <a:prstGeom prst="rect">
            <a:avLst/>
          </a:prstGeom>
          <a:noFill/>
          <a:ln/>
        </p:spPr>
        <p:txBody>
          <a:bodyPr wrap="square" lIns="0" tIns="0" rIns="0" bIns="0" rtlCol="0" anchor="ctr"/>
          <a:lstStyle/>
          <a:p>
            <a:pPr indent="0" marL="0">
              <a:lnSpc>
                <a:spcPts val="3360"/>
              </a:lnSpc>
              <a:buNone/>
            </a:pPr>
            <a:r>
              <a:rPr lang="en-US" sz="3200" b="1" dirty="0">
                <a:solidFill>
                  <a:srgbClr val="ECE7DD"/>
                </a:solidFill>
                <a:latin typeface="Cambria" pitchFamily="34" charset="0"/>
                <a:ea typeface="Cambria" pitchFamily="34" charset="-122"/>
                <a:cs typeface="Cambria" pitchFamily="34" charset="-120"/>
              </a:rPr>
              <a:t>Eight deterministic detectors — every number from the files</a:t>
            </a:r>
            <a:endParaRPr lang="en-US" sz="3200" dirty="0"/>
          </a:p>
        </p:txBody>
      </p:sp>
      <p:sp>
        <p:nvSpPr>
          <p:cNvPr id="4" name="Shape 2"/>
          <p:cNvSpPr/>
          <p:nvPr/>
        </p:nvSpPr>
        <p:spPr>
          <a:xfrm>
            <a:off x="548640" y="1920240"/>
            <a:ext cx="2615184" cy="1645920"/>
          </a:xfrm>
          <a:prstGeom prst="roundRect">
            <a:avLst>
              <a:gd name="adj" fmla="val 5000"/>
            </a:avLst>
          </a:prstGeom>
          <a:solidFill>
            <a:srgbClr val="16233A"/>
          </a:solidFill>
          <a:ln w="12700">
            <a:solidFill>
              <a:srgbClr val="2A3752"/>
            </a:solidFill>
            <a:prstDash val="solid"/>
          </a:ln>
        </p:spPr>
      </p:sp>
      <p:sp>
        <p:nvSpPr>
          <p:cNvPr id="5" name="Shape 3"/>
          <p:cNvSpPr/>
          <p:nvPr/>
        </p:nvSpPr>
        <p:spPr>
          <a:xfrm>
            <a:off x="804672" y="2176272"/>
            <a:ext cx="146304" cy="146304"/>
          </a:xfrm>
          <a:prstGeom prst="roundRect">
            <a:avLst>
              <a:gd name="adj" fmla="val 18750"/>
            </a:avLst>
          </a:prstGeom>
          <a:solidFill>
            <a:srgbClr val="B0453B"/>
          </a:solidFill>
          <a:ln/>
        </p:spPr>
      </p:sp>
      <p:sp>
        <p:nvSpPr>
          <p:cNvPr id="6" name="Text 4"/>
          <p:cNvSpPr txBox="1"/>
          <p:nvPr/>
        </p:nvSpPr>
        <p:spPr>
          <a:xfrm>
            <a:off x="1051560" y="2103120"/>
            <a:ext cx="1975104"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Collateral</a:t>
            </a:r>
            <a:endParaRPr lang="en-US" sz="1600" dirty="0"/>
          </a:p>
        </p:txBody>
      </p:sp>
      <p:sp>
        <p:nvSpPr>
          <p:cNvPr id="7" name="Text 5"/>
          <p:cNvSpPr txBox="1"/>
          <p:nvPr/>
        </p:nvSpPr>
        <p:spPr>
          <a:xfrm>
            <a:off x="804672" y="2606040"/>
            <a:ext cx="2157984" cy="822960"/>
          </a:xfrm>
          <a:prstGeom prst="rect">
            <a:avLst/>
          </a:prstGeom>
          <a:noFill/>
          <a:ln/>
        </p:spPr>
        <p:txBody>
          <a:bodyPr wrap="square" lIns="0" tIns="0" rIns="0" bIns="0" rtlCol="0" anchor="ctr"/>
          <a:lstStyle/>
          <a:p>
            <a:pPr indent="0" marL="0">
              <a:lnSpc>
                <a:spcPts val="1600"/>
              </a:lnSpc>
              <a:buNone/>
            </a:pPr>
            <a:r>
              <a:rPr lang="en-US" sz="1200" dirty="0">
                <a:solidFill>
                  <a:srgbClr val="A7ADBA"/>
                </a:solidFill>
                <a:latin typeface="Calibri" pitchFamily="34" charset="0"/>
                <a:ea typeface="Calibri" pitchFamily="34" charset="-122"/>
                <a:cs typeface="Calibri" pitchFamily="34" charset="-120"/>
              </a:rPr>
              <a:t>LTV vs the margin-call line, across 5 snapshots</a:t>
            </a:r>
            <a:endParaRPr lang="en-US" sz="1200" dirty="0"/>
          </a:p>
        </p:txBody>
      </p:sp>
      <p:sp>
        <p:nvSpPr>
          <p:cNvPr id="8" name="Shape 6"/>
          <p:cNvSpPr/>
          <p:nvPr/>
        </p:nvSpPr>
        <p:spPr>
          <a:xfrm>
            <a:off x="3364992" y="1920240"/>
            <a:ext cx="2615184" cy="1645920"/>
          </a:xfrm>
          <a:prstGeom prst="roundRect">
            <a:avLst>
              <a:gd name="adj" fmla="val 5000"/>
            </a:avLst>
          </a:prstGeom>
          <a:solidFill>
            <a:srgbClr val="16233A"/>
          </a:solidFill>
          <a:ln w="12700">
            <a:solidFill>
              <a:srgbClr val="2A3752"/>
            </a:solidFill>
            <a:prstDash val="solid"/>
          </a:ln>
        </p:spPr>
      </p:sp>
      <p:sp>
        <p:nvSpPr>
          <p:cNvPr id="9" name="Shape 7"/>
          <p:cNvSpPr/>
          <p:nvPr/>
        </p:nvSpPr>
        <p:spPr>
          <a:xfrm>
            <a:off x="3621024" y="2176272"/>
            <a:ext cx="146304" cy="146304"/>
          </a:xfrm>
          <a:prstGeom prst="roundRect">
            <a:avLst>
              <a:gd name="adj" fmla="val 18750"/>
            </a:avLst>
          </a:prstGeom>
          <a:solidFill>
            <a:srgbClr val="CF8A3C"/>
          </a:solidFill>
          <a:ln/>
        </p:spPr>
      </p:sp>
      <p:sp>
        <p:nvSpPr>
          <p:cNvPr id="10" name="Text 8"/>
          <p:cNvSpPr txBox="1"/>
          <p:nvPr/>
        </p:nvSpPr>
        <p:spPr>
          <a:xfrm>
            <a:off x="3867912" y="2103120"/>
            <a:ext cx="1975104"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Concentration</a:t>
            </a:r>
            <a:endParaRPr lang="en-US" sz="1600" dirty="0"/>
          </a:p>
        </p:txBody>
      </p:sp>
      <p:sp>
        <p:nvSpPr>
          <p:cNvPr id="11" name="Text 9"/>
          <p:cNvSpPr txBox="1"/>
          <p:nvPr/>
        </p:nvSpPr>
        <p:spPr>
          <a:xfrm>
            <a:off x="3621024" y="2606040"/>
            <a:ext cx="2157984" cy="822960"/>
          </a:xfrm>
          <a:prstGeom prst="rect">
            <a:avLst/>
          </a:prstGeom>
          <a:noFill/>
          <a:ln/>
        </p:spPr>
        <p:txBody>
          <a:bodyPr wrap="square" lIns="0" tIns="0" rIns="0" bIns="0" rtlCol="0" anchor="ctr"/>
          <a:lstStyle/>
          <a:p>
            <a:pPr indent="0" marL="0">
              <a:lnSpc>
                <a:spcPts val="1600"/>
              </a:lnSpc>
              <a:buNone/>
            </a:pPr>
            <a:r>
              <a:rPr lang="en-US" sz="1200" dirty="0">
                <a:solidFill>
                  <a:srgbClr val="A7ADBA"/>
                </a:solidFill>
                <a:latin typeface="Calibri" pitchFamily="34" charset="0"/>
                <a:ea typeface="Calibri" pitchFamily="34" charset="-122"/>
                <a:cs typeface="Calibri" pitchFamily="34" charset="-120"/>
              </a:rPr>
              <a:t>Single-name exposure, looking through notes</a:t>
            </a:r>
            <a:endParaRPr lang="en-US" sz="1200" dirty="0"/>
          </a:p>
        </p:txBody>
      </p:sp>
      <p:sp>
        <p:nvSpPr>
          <p:cNvPr id="12" name="Shape 10"/>
          <p:cNvSpPr/>
          <p:nvPr/>
        </p:nvSpPr>
        <p:spPr>
          <a:xfrm>
            <a:off x="6181344" y="1920240"/>
            <a:ext cx="2615184" cy="1645920"/>
          </a:xfrm>
          <a:prstGeom prst="roundRect">
            <a:avLst>
              <a:gd name="adj" fmla="val 5000"/>
            </a:avLst>
          </a:prstGeom>
          <a:solidFill>
            <a:srgbClr val="16233A"/>
          </a:solidFill>
          <a:ln w="12700">
            <a:solidFill>
              <a:srgbClr val="2A3752"/>
            </a:solidFill>
            <a:prstDash val="solid"/>
          </a:ln>
        </p:spPr>
      </p:sp>
      <p:sp>
        <p:nvSpPr>
          <p:cNvPr id="13" name="Shape 11"/>
          <p:cNvSpPr/>
          <p:nvPr/>
        </p:nvSpPr>
        <p:spPr>
          <a:xfrm>
            <a:off x="6437376" y="2176272"/>
            <a:ext cx="146304" cy="146304"/>
          </a:xfrm>
          <a:prstGeom prst="roundRect">
            <a:avLst>
              <a:gd name="adj" fmla="val 18750"/>
            </a:avLst>
          </a:prstGeom>
          <a:solidFill>
            <a:srgbClr val="C9A86A"/>
          </a:solidFill>
          <a:ln/>
        </p:spPr>
      </p:sp>
      <p:sp>
        <p:nvSpPr>
          <p:cNvPr id="14" name="Text 12"/>
          <p:cNvSpPr txBox="1"/>
          <p:nvPr/>
        </p:nvSpPr>
        <p:spPr>
          <a:xfrm>
            <a:off x="6684264" y="2103120"/>
            <a:ext cx="1975104"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Mandate</a:t>
            </a:r>
            <a:endParaRPr lang="en-US" sz="1600" dirty="0"/>
          </a:p>
        </p:txBody>
      </p:sp>
      <p:sp>
        <p:nvSpPr>
          <p:cNvPr id="15" name="Text 13"/>
          <p:cNvSpPr txBox="1"/>
          <p:nvPr/>
        </p:nvSpPr>
        <p:spPr>
          <a:xfrm>
            <a:off x="6437376" y="2606040"/>
            <a:ext cx="2157984" cy="822960"/>
          </a:xfrm>
          <a:prstGeom prst="rect">
            <a:avLst/>
          </a:prstGeom>
          <a:noFill/>
          <a:ln/>
        </p:spPr>
        <p:txBody>
          <a:bodyPr wrap="square" lIns="0" tIns="0" rIns="0" bIns="0" rtlCol="0" anchor="ctr"/>
          <a:lstStyle/>
          <a:p>
            <a:pPr indent="0" marL="0">
              <a:lnSpc>
                <a:spcPts val="1600"/>
              </a:lnSpc>
              <a:buNone/>
            </a:pPr>
            <a:r>
              <a:rPr lang="en-US" sz="1200" dirty="0">
                <a:solidFill>
                  <a:srgbClr val="A7ADBA"/>
                </a:solidFill>
                <a:latin typeface="Calibri" pitchFamily="34" charset="0"/>
                <a:ea typeface="Calibri" pitchFamily="34" charset="-122"/>
                <a:cs typeface="Calibri" pitchFamily="34" charset="-120"/>
              </a:rPr>
              <a:t>Band &amp; single-position + ESG-exclusion breaches</a:t>
            </a:r>
            <a:endParaRPr lang="en-US" sz="1200" dirty="0"/>
          </a:p>
        </p:txBody>
      </p:sp>
      <p:sp>
        <p:nvSpPr>
          <p:cNvPr id="16" name="Shape 14"/>
          <p:cNvSpPr/>
          <p:nvPr/>
        </p:nvSpPr>
        <p:spPr>
          <a:xfrm>
            <a:off x="8997696" y="1920240"/>
            <a:ext cx="2615184" cy="1645920"/>
          </a:xfrm>
          <a:prstGeom prst="roundRect">
            <a:avLst>
              <a:gd name="adj" fmla="val 5000"/>
            </a:avLst>
          </a:prstGeom>
          <a:solidFill>
            <a:srgbClr val="16233A"/>
          </a:solidFill>
          <a:ln w="12700">
            <a:solidFill>
              <a:srgbClr val="2A3752"/>
            </a:solidFill>
            <a:prstDash val="solid"/>
          </a:ln>
        </p:spPr>
      </p:sp>
      <p:sp>
        <p:nvSpPr>
          <p:cNvPr id="17" name="Shape 15"/>
          <p:cNvSpPr/>
          <p:nvPr/>
        </p:nvSpPr>
        <p:spPr>
          <a:xfrm>
            <a:off x="9253728" y="2176272"/>
            <a:ext cx="146304" cy="146304"/>
          </a:xfrm>
          <a:prstGeom prst="roundRect">
            <a:avLst>
              <a:gd name="adj" fmla="val 18750"/>
            </a:avLst>
          </a:prstGeom>
          <a:solidFill>
            <a:srgbClr val="7F9BB3"/>
          </a:solidFill>
          <a:ln/>
        </p:spPr>
      </p:sp>
      <p:sp>
        <p:nvSpPr>
          <p:cNvPr id="18" name="Text 16"/>
          <p:cNvSpPr txBox="1"/>
          <p:nvPr/>
        </p:nvSpPr>
        <p:spPr>
          <a:xfrm>
            <a:off x="9500616" y="2103120"/>
            <a:ext cx="1975104"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Liquidity</a:t>
            </a:r>
            <a:endParaRPr lang="en-US" sz="1600" dirty="0"/>
          </a:p>
        </p:txBody>
      </p:sp>
      <p:sp>
        <p:nvSpPr>
          <p:cNvPr id="19" name="Text 17"/>
          <p:cNvSpPr txBox="1"/>
          <p:nvPr/>
        </p:nvSpPr>
        <p:spPr>
          <a:xfrm>
            <a:off x="9253728" y="2606040"/>
            <a:ext cx="2157984" cy="822960"/>
          </a:xfrm>
          <a:prstGeom prst="rect">
            <a:avLst/>
          </a:prstGeom>
          <a:noFill/>
          <a:ln/>
        </p:spPr>
        <p:txBody>
          <a:bodyPr wrap="square" lIns="0" tIns="0" rIns="0" bIns="0" rtlCol="0" anchor="ctr"/>
          <a:lstStyle/>
          <a:p>
            <a:pPr indent="0" marL="0">
              <a:lnSpc>
                <a:spcPts val="1600"/>
              </a:lnSpc>
              <a:buNone/>
            </a:pPr>
            <a:r>
              <a:rPr lang="en-US" sz="1200" dirty="0">
                <a:solidFill>
                  <a:srgbClr val="A7ADBA"/>
                </a:solidFill>
                <a:latin typeface="Calibri" pitchFamily="34" charset="0"/>
                <a:ea typeface="Calibri" pitchFamily="34" charset="-122"/>
                <a:cs typeface="Calibri" pitchFamily="34" charset="-120"/>
              </a:rPr>
              <a:t>Sellable assets net of pledged collateral</a:t>
            </a:r>
            <a:endParaRPr lang="en-US" sz="1200" dirty="0"/>
          </a:p>
        </p:txBody>
      </p:sp>
      <p:sp>
        <p:nvSpPr>
          <p:cNvPr id="20" name="Shape 18"/>
          <p:cNvSpPr/>
          <p:nvPr/>
        </p:nvSpPr>
        <p:spPr>
          <a:xfrm>
            <a:off x="548640" y="3794760"/>
            <a:ext cx="2615184" cy="1645920"/>
          </a:xfrm>
          <a:prstGeom prst="roundRect">
            <a:avLst>
              <a:gd name="adj" fmla="val 5000"/>
            </a:avLst>
          </a:prstGeom>
          <a:solidFill>
            <a:srgbClr val="16233A"/>
          </a:solidFill>
          <a:ln w="12700">
            <a:solidFill>
              <a:srgbClr val="2A3752"/>
            </a:solidFill>
            <a:prstDash val="solid"/>
          </a:ln>
        </p:spPr>
      </p:sp>
      <p:sp>
        <p:nvSpPr>
          <p:cNvPr id="21" name="Shape 19"/>
          <p:cNvSpPr/>
          <p:nvPr/>
        </p:nvSpPr>
        <p:spPr>
          <a:xfrm>
            <a:off x="804672" y="4050792"/>
            <a:ext cx="146304" cy="146304"/>
          </a:xfrm>
          <a:prstGeom prst="roundRect">
            <a:avLst>
              <a:gd name="adj" fmla="val 18750"/>
            </a:avLst>
          </a:prstGeom>
          <a:solidFill>
            <a:srgbClr val="CF8A3C"/>
          </a:solidFill>
          <a:ln/>
        </p:spPr>
      </p:sp>
      <p:sp>
        <p:nvSpPr>
          <p:cNvPr id="22" name="Text 20"/>
          <p:cNvSpPr txBox="1"/>
          <p:nvPr/>
        </p:nvSpPr>
        <p:spPr>
          <a:xfrm>
            <a:off x="1051560" y="3977640"/>
            <a:ext cx="1975104"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Income</a:t>
            </a:r>
            <a:endParaRPr lang="en-US" sz="1600" dirty="0"/>
          </a:p>
        </p:txBody>
      </p:sp>
      <p:sp>
        <p:nvSpPr>
          <p:cNvPr id="23" name="Text 21"/>
          <p:cNvSpPr txBox="1"/>
          <p:nvPr/>
        </p:nvSpPr>
        <p:spPr>
          <a:xfrm>
            <a:off x="804672" y="4480560"/>
            <a:ext cx="2157984" cy="822960"/>
          </a:xfrm>
          <a:prstGeom prst="rect">
            <a:avLst/>
          </a:prstGeom>
          <a:noFill/>
          <a:ln/>
        </p:spPr>
        <p:txBody>
          <a:bodyPr wrap="square" lIns="0" tIns="0" rIns="0" bIns="0" rtlCol="0" anchor="ctr"/>
          <a:lstStyle/>
          <a:p>
            <a:pPr indent="0" marL="0">
              <a:lnSpc>
                <a:spcPts val="1600"/>
              </a:lnSpc>
              <a:buNone/>
            </a:pPr>
            <a:r>
              <a:rPr lang="en-US" sz="1200" dirty="0">
                <a:solidFill>
                  <a:srgbClr val="A7ADBA"/>
                </a:solidFill>
                <a:latin typeface="Calibri" pitchFamily="34" charset="0"/>
                <a:ea typeface="Calibri" pitchFamily="34" charset="-122"/>
                <a:cs typeface="Calibri" pitchFamily="34" charset="-120"/>
              </a:rPr>
              <a:t>Drawdown vs the income the book actually pays</a:t>
            </a:r>
            <a:endParaRPr lang="en-US" sz="1200" dirty="0"/>
          </a:p>
        </p:txBody>
      </p:sp>
      <p:sp>
        <p:nvSpPr>
          <p:cNvPr id="24" name="Shape 22"/>
          <p:cNvSpPr/>
          <p:nvPr/>
        </p:nvSpPr>
        <p:spPr>
          <a:xfrm>
            <a:off x="3364992" y="3794760"/>
            <a:ext cx="2615184" cy="1645920"/>
          </a:xfrm>
          <a:prstGeom prst="roundRect">
            <a:avLst>
              <a:gd name="adj" fmla="val 5000"/>
            </a:avLst>
          </a:prstGeom>
          <a:solidFill>
            <a:srgbClr val="16233A"/>
          </a:solidFill>
          <a:ln w="12700">
            <a:solidFill>
              <a:srgbClr val="2A3752"/>
            </a:solidFill>
            <a:prstDash val="solid"/>
          </a:ln>
        </p:spPr>
      </p:sp>
      <p:sp>
        <p:nvSpPr>
          <p:cNvPr id="25" name="Shape 23"/>
          <p:cNvSpPr/>
          <p:nvPr/>
        </p:nvSpPr>
        <p:spPr>
          <a:xfrm>
            <a:off x="3621024" y="4050792"/>
            <a:ext cx="146304" cy="146304"/>
          </a:xfrm>
          <a:prstGeom prst="roundRect">
            <a:avLst>
              <a:gd name="adj" fmla="val 18750"/>
            </a:avLst>
          </a:prstGeom>
          <a:solidFill>
            <a:srgbClr val="7F9BB3"/>
          </a:solidFill>
          <a:ln/>
        </p:spPr>
      </p:sp>
      <p:sp>
        <p:nvSpPr>
          <p:cNvPr id="26" name="Text 24"/>
          <p:cNvSpPr txBox="1"/>
          <p:nvPr/>
        </p:nvSpPr>
        <p:spPr>
          <a:xfrm>
            <a:off x="3867912" y="3977640"/>
            <a:ext cx="1975104"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Attribution</a:t>
            </a:r>
            <a:endParaRPr lang="en-US" sz="1600" dirty="0"/>
          </a:p>
        </p:txBody>
      </p:sp>
      <p:sp>
        <p:nvSpPr>
          <p:cNvPr id="27" name="Text 25"/>
          <p:cNvSpPr txBox="1"/>
          <p:nvPr/>
        </p:nvSpPr>
        <p:spPr>
          <a:xfrm>
            <a:off x="3621024" y="4480560"/>
            <a:ext cx="2157984" cy="822960"/>
          </a:xfrm>
          <a:prstGeom prst="rect">
            <a:avLst/>
          </a:prstGeom>
          <a:noFill/>
          <a:ln/>
        </p:spPr>
        <p:txBody>
          <a:bodyPr wrap="square" lIns="0" tIns="0" rIns="0" bIns="0" rtlCol="0" anchor="ctr"/>
          <a:lstStyle/>
          <a:p>
            <a:pPr indent="0" marL="0">
              <a:lnSpc>
                <a:spcPts val="1600"/>
              </a:lnSpc>
              <a:buNone/>
            </a:pPr>
            <a:r>
              <a:rPr lang="en-US" sz="1200" dirty="0">
                <a:solidFill>
                  <a:srgbClr val="A7ADBA"/>
                </a:solidFill>
                <a:latin typeface="Calibri" pitchFamily="34" charset="0"/>
                <a:ea typeface="Calibri" pitchFamily="34" charset="-122"/>
                <a:cs typeface="Calibri" pitchFamily="34" charset="-120"/>
              </a:rPr>
              <a:t>Biggest moves tied to the authoritative events</a:t>
            </a:r>
            <a:endParaRPr lang="en-US" sz="1200" dirty="0"/>
          </a:p>
        </p:txBody>
      </p:sp>
      <p:sp>
        <p:nvSpPr>
          <p:cNvPr id="28" name="Shape 26"/>
          <p:cNvSpPr/>
          <p:nvPr/>
        </p:nvSpPr>
        <p:spPr>
          <a:xfrm>
            <a:off x="6181344" y="3794760"/>
            <a:ext cx="2615184" cy="1645920"/>
          </a:xfrm>
          <a:prstGeom prst="roundRect">
            <a:avLst>
              <a:gd name="adj" fmla="val 5000"/>
            </a:avLst>
          </a:prstGeom>
          <a:solidFill>
            <a:srgbClr val="16233A"/>
          </a:solidFill>
          <a:ln w="12700">
            <a:solidFill>
              <a:srgbClr val="2A3752"/>
            </a:solidFill>
            <a:prstDash val="solid"/>
          </a:ln>
        </p:spPr>
      </p:sp>
      <p:sp>
        <p:nvSpPr>
          <p:cNvPr id="29" name="Shape 27"/>
          <p:cNvSpPr/>
          <p:nvPr/>
        </p:nvSpPr>
        <p:spPr>
          <a:xfrm>
            <a:off x="6437376" y="4050792"/>
            <a:ext cx="146304" cy="146304"/>
          </a:xfrm>
          <a:prstGeom prst="roundRect">
            <a:avLst>
              <a:gd name="adj" fmla="val 18750"/>
            </a:avLst>
          </a:prstGeom>
          <a:solidFill>
            <a:srgbClr val="C9A86A"/>
          </a:solidFill>
          <a:ln/>
        </p:spPr>
      </p:sp>
      <p:sp>
        <p:nvSpPr>
          <p:cNvPr id="30" name="Text 28"/>
          <p:cNvSpPr txBox="1"/>
          <p:nvPr/>
        </p:nvSpPr>
        <p:spPr>
          <a:xfrm>
            <a:off x="6684264" y="3977640"/>
            <a:ext cx="1975104"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Currency</a:t>
            </a:r>
            <a:endParaRPr lang="en-US" sz="1600" dirty="0"/>
          </a:p>
        </p:txBody>
      </p:sp>
      <p:sp>
        <p:nvSpPr>
          <p:cNvPr id="31" name="Text 29"/>
          <p:cNvSpPr txBox="1"/>
          <p:nvPr/>
        </p:nvSpPr>
        <p:spPr>
          <a:xfrm>
            <a:off x="6437376" y="4480560"/>
            <a:ext cx="2157984" cy="822960"/>
          </a:xfrm>
          <a:prstGeom prst="rect">
            <a:avLst/>
          </a:prstGeom>
          <a:noFill/>
          <a:ln/>
        </p:spPr>
        <p:txBody>
          <a:bodyPr wrap="square" lIns="0" tIns="0" rIns="0" bIns="0" rtlCol="0" anchor="ctr"/>
          <a:lstStyle/>
          <a:p>
            <a:pPr indent="0" marL="0">
              <a:lnSpc>
                <a:spcPts val="1600"/>
              </a:lnSpc>
              <a:buNone/>
            </a:pPr>
            <a:r>
              <a:rPr lang="en-US" sz="1200" dirty="0">
                <a:solidFill>
                  <a:srgbClr val="A7ADBA"/>
                </a:solidFill>
                <a:latin typeface="Calibri" pitchFamily="34" charset="0"/>
                <a:ea typeface="Calibri" pitchFamily="34" charset="-122"/>
                <a:cs typeface="Calibri" pitchFamily="34" charset="-120"/>
              </a:rPr>
              <a:t>Obligations in a currency the book barely holds</a:t>
            </a:r>
            <a:endParaRPr lang="en-US" sz="1200" dirty="0"/>
          </a:p>
        </p:txBody>
      </p:sp>
      <p:sp>
        <p:nvSpPr>
          <p:cNvPr id="32" name="Shape 30"/>
          <p:cNvSpPr/>
          <p:nvPr/>
        </p:nvSpPr>
        <p:spPr>
          <a:xfrm>
            <a:off x="8997696" y="3794760"/>
            <a:ext cx="2615184" cy="1645920"/>
          </a:xfrm>
          <a:prstGeom prst="roundRect">
            <a:avLst>
              <a:gd name="adj" fmla="val 5000"/>
            </a:avLst>
          </a:prstGeom>
          <a:solidFill>
            <a:srgbClr val="16233A"/>
          </a:solidFill>
          <a:ln w="12700">
            <a:solidFill>
              <a:srgbClr val="2A3752"/>
            </a:solidFill>
            <a:prstDash val="solid"/>
          </a:ln>
        </p:spPr>
      </p:sp>
      <p:sp>
        <p:nvSpPr>
          <p:cNvPr id="33" name="Shape 31"/>
          <p:cNvSpPr/>
          <p:nvPr/>
        </p:nvSpPr>
        <p:spPr>
          <a:xfrm>
            <a:off x="9253728" y="4050792"/>
            <a:ext cx="146304" cy="146304"/>
          </a:xfrm>
          <a:prstGeom prst="roundRect">
            <a:avLst>
              <a:gd name="adj" fmla="val 18750"/>
            </a:avLst>
          </a:prstGeom>
          <a:solidFill>
            <a:srgbClr val="5F8F7A"/>
          </a:solidFill>
          <a:ln/>
        </p:spPr>
      </p:sp>
      <p:sp>
        <p:nvSpPr>
          <p:cNvPr id="34" name="Text 32"/>
          <p:cNvSpPr txBox="1"/>
          <p:nvPr/>
        </p:nvSpPr>
        <p:spPr>
          <a:xfrm>
            <a:off x="9500616" y="3977640"/>
            <a:ext cx="1975104"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Review</a:t>
            </a:r>
            <a:endParaRPr lang="en-US" sz="1600" dirty="0"/>
          </a:p>
        </p:txBody>
      </p:sp>
      <p:sp>
        <p:nvSpPr>
          <p:cNvPr id="35" name="Text 33"/>
          <p:cNvSpPr txBox="1"/>
          <p:nvPr/>
        </p:nvSpPr>
        <p:spPr>
          <a:xfrm>
            <a:off x="9253728" y="4480560"/>
            <a:ext cx="2157984" cy="822960"/>
          </a:xfrm>
          <a:prstGeom prst="rect">
            <a:avLst/>
          </a:prstGeom>
          <a:noFill/>
          <a:ln/>
        </p:spPr>
        <p:txBody>
          <a:bodyPr wrap="square" lIns="0" tIns="0" rIns="0" bIns="0" rtlCol="0" anchor="ctr"/>
          <a:lstStyle/>
          <a:p>
            <a:pPr indent="0" marL="0">
              <a:lnSpc>
                <a:spcPts val="1600"/>
              </a:lnSpc>
              <a:buNone/>
            </a:pPr>
            <a:r>
              <a:rPr lang="en-US" sz="1200" dirty="0">
                <a:solidFill>
                  <a:srgbClr val="A7ADBA"/>
                </a:solidFill>
                <a:latin typeface="Calibri" pitchFamily="34" charset="0"/>
                <a:ea typeface="Calibri" pitchFamily="34" charset="-122"/>
                <a:cs typeface="Calibri" pitchFamily="34" charset="-120"/>
              </a:rPr>
              <a:t>KYC / periodic review due or overdue</a:t>
            </a:r>
            <a:endParaRPr lang="en-US" sz="1200" dirty="0"/>
          </a:p>
        </p:txBody>
      </p:sp>
      <p:sp>
        <p:nvSpPr>
          <p:cNvPr id="36" name="Text 34"/>
          <p:cNvSpPr txBox="1"/>
          <p:nvPr/>
        </p:nvSpPr>
        <p:spPr>
          <a:xfrm>
            <a:off x="548640" y="5943600"/>
            <a:ext cx="10972800" cy="365760"/>
          </a:xfrm>
          <a:prstGeom prst="rect">
            <a:avLst/>
          </a:prstGeom>
          <a:noFill/>
          <a:ln/>
        </p:spPr>
        <p:txBody>
          <a:bodyPr wrap="square" lIns="0" tIns="0" rIns="0" bIns="0" rtlCol="0" anchor="ctr"/>
          <a:lstStyle/>
          <a:p>
            <a:pPr indent="0" marL="0">
              <a:buNone/>
            </a:pPr>
            <a:r>
              <a:rPr lang="en-US" sz="1350" b="1" dirty="0">
                <a:solidFill>
                  <a:srgbClr val="C9A86A"/>
                </a:solidFill>
                <a:latin typeface="Calibri" pitchFamily="34" charset="0"/>
                <a:ea typeface="Calibri" pitchFamily="34" charset="-122"/>
                <a:cs typeface="Calibri" pitchFamily="34" charset="-120"/>
              </a:rPr>
              <a:t>Ranking = Σ severity²  </a:t>
            </a:r>
            <a:pPr indent="0" marL="0">
              <a:buNone/>
            </a:pPr>
            <a:r>
              <a:rPr lang="en-US" sz="1350" dirty="0">
                <a:solidFill>
                  <a:srgbClr val="A7ADBA"/>
                </a:solidFill>
                <a:latin typeface="Calibri" pitchFamily="34" charset="0"/>
                <a:ea typeface="Calibri" pitchFamily="34" charset="-122"/>
                <a:cs typeface="Calibri" pitchFamily="34" charset="-120"/>
              </a:rPr>
              <a:t>— one genuine emergency outranks a pile of minor drift, and the order is always explainable.</a:t>
            </a:r>
            <a:endParaRPr lang="en-US" sz="1350" dirty="0"/>
          </a:p>
        </p:txBody>
      </p:sp>
      <p:sp>
        <p:nvSpPr>
          <p:cNvPr id="37" name="Text 35"/>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7C8492"/>
                </a:solidFill>
                <a:latin typeface="Calibri" pitchFamily="34" charset="0"/>
                <a:ea typeface="Calibri" pitchFamily="34" charset="-122"/>
                <a:cs typeface="Calibri" pitchFamily="34" charset="-120"/>
              </a:rPr>
              <a:t>Wealth Intelligence · Julius Baer · Track #1</a:t>
            </a:r>
            <a:endParaRPr lang="en-US" sz="900" dirty="0"/>
          </a:p>
        </p:txBody>
      </p:sp>
      <p:sp>
        <p:nvSpPr>
          <p:cNvPr id="38" name="Text 36"/>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7C8492"/>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320"/>
        </a:solidFill>
      </p:bgPr>
    </p:bg>
    <p:spTree>
      <p:nvGrpSpPr>
        <p:cNvPr id="1" name=""/>
        <p:cNvGrpSpPr/>
        <p:nvPr/>
      </p:nvGrpSpPr>
      <p:grpSpPr>
        <a:xfrm>
          <a:off x="0" y="0"/>
          <a:ext cx="0" cy="0"/>
          <a:chOff x="0" y="0"/>
          <a:chExt cx="0" cy="0"/>
        </a:xfrm>
      </p:grpSpPr>
      <p:sp>
        <p:nvSpPr>
          <p:cNvPr id="2" name="Text 0"/>
          <p:cNvSpPr txBox="1"/>
          <p:nvPr/>
        </p:nvSpPr>
        <p:spPr>
          <a:xfrm>
            <a:off x="566928" y="457200"/>
            <a:ext cx="9144000" cy="274320"/>
          </a:xfrm>
          <a:prstGeom prst="rect">
            <a:avLst/>
          </a:prstGeom>
          <a:noFill/>
          <a:ln/>
        </p:spPr>
        <p:txBody>
          <a:bodyPr wrap="square" lIns="0" tIns="0" rIns="0" bIns="0" rtlCol="0" anchor="ctr"/>
          <a:lstStyle/>
          <a:p>
            <a:pPr indent="0" marL="0">
              <a:buNone/>
            </a:pPr>
            <a:r>
              <a:rPr lang="en-US" sz="1150" b="1" spc="300" kern="0" dirty="0">
                <a:solidFill>
                  <a:srgbClr val="C9A86A"/>
                </a:solidFill>
                <a:latin typeface="Calibri" pitchFamily="34" charset="0"/>
                <a:ea typeface="Calibri" pitchFamily="34" charset="-122"/>
                <a:cs typeface="Calibri" pitchFamily="34" charset="-120"/>
              </a:rPr>
              <a:t>04 · HOW IT WORKS · GETTING IT RIGHT</a:t>
            </a:r>
            <a:endParaRPr lang="en-US" sz="1150" dirty="0"/>
          </a:p>
        </p:txBody>
      </p:sp>
      <p:sp>
        <p:nvSpPr>
          <p:cNvPr id="3" name="Text 1"/>
          <p:cNvSpPr txBox="1"/>
          <p:nvPr/>
        </p:nvSpPr>
        <p:spPr>
          <a:xfrm>
            <a:off x="548640" y="749808"/>
            <a:ext cx="10972800" cy="914400"/>
          </a:xfrm>
          <a:prstGeom prst="rect">
            <a:avLst/>
          </a:prstGeom>
          <a:noFill/>
          <a:ln/>
        </p:spPr>
        <p:txBody>
          <a:bodyPr wrap="square" lIns="0" tIns="0" rIns="0" bIns="0" rtlCol="0" anchor="ctr"/>
          <a:lstStyle/>
          <a:p>
            <a:pPr indent="0" marL="0">
              <a:lnSpc>
                <a:spcPts val="3360"/>
              </a:lnSpc>
              <a:buNone/>
            </a:pPr>
            <a:r>
              <a:rPr lang="en-US" sz="3200" b="1" dirty="0">
                <a:solidFill>
                  <a:srgbClr val="ECE7DD"/>
                </a:solidFill>
                <a:latin typeface="Cambria" pitchFamily="34" charset="0"/>
                <a:ea typeface="Cambria" pitchFamily="34" charset="-122"/>
                <a:cs typeface="Cambria" pitchFamily="34" charset="-120"/>
              </a:rPr>
              <a:t>Four data traps we handle — where understanding shows</a:t>
            </a:r>
            <a:endParaRPr lang="en-US" sz="3200" dirty="0"/>
          </a:p>
        </p:txBody>
      </p:sp>
      <p:sp>
        <p:nvSpPr>
          <p:cNvPr id="4" name="Shape 2"/>
          <p:cNvSpPr/>
          <p:nvPr/>
        </p:nvSpPr>
        <p:spPr>
          <a:xfrm>
            <a:off x="548640" y="1874520"/>
            <a:ext cx="5394960" cy="1920240"/>
          </a:xfrm>
          <a:prstGeom prst="roundRect">
            <a:avLst>
              <a:gd name="adj" fmla="val 4286"/>
            </a:avLst>
          </a:prstGeom>
          <a:solidFill>
            <a:srgbClr val="16233A"/>
          </a:solidFill>
          <a:ln w="12700">
            <a:solidFill>
              <a:srgbClr val="2A3752"/>
            </a:solidFill>
            <a:prstDash val="solid"/>
          </a:ln>
        </p:spPr>
      </p:sp>
      <p:sp>
        <p:nvSpPr>
          <p:cNvPr id="5" name="Text 3"/>
          <p:cNvSpPr txBox="1"/>
          <p:nvPr/>
        </p:nvSpPr>
        <p:spPr>
          <a:xfrm>
            <a:off x="822960" y="2075688"/>
            <a:ext cx="4846320" cy="365760"/>
          </a:xfrm>
          <a:prstGeom prst="rect">
            <a:avLst/>
          </a:prstGeom>
          <a:noFill/>
          <a:ln/>
        </p:spPr>
        <p:txBody>
          <a:bodyPr wrap="square" lIns="0" tIns="0" rIns="0" bIns="0" rtlCol="0" anchor="ctr"/>
          <a:lstStyle/>
          <a:p>
            <a:pPr indent="0" marL="0">
              <a:buNone/>
            </a:pPr>
            <a:r>
              <a:rPr lang="en-US" sz="1700" b="1" dirty="0">
                <a:solidFill>
                  <a:srgbClr val="C9A86A"/>
                </a:solidFill>
                <a:latin typeface="Cambria" pitchFamily="34" charset="0"/>
                <a:ea typeface="Cambria" pitchFamily="34" charset="-122"/>
                <a:cs typeface="Cambria" pitchFamily="34" charset="-120"/>
              </a:rPr>
              <a:t>Currency</a:t>
            </a:r>
            <a:endParaRPr lang="en-US" sz="1700" dirty="0"/>
          </a:p>
        </p:txBody>
      </p:sp>
      <p:sp>
        <p:nvSpPr>
          <p:cNvPr id="6" name="Text 4"/>
          <p:cNvSpPr txBox="1"/>
          <p:nvPr/>
        </p:nvSpPr>
        <p:spPr>
          <a:xfrm>
            <a:off x="822960" y="2532888"/>
            <a:ext cx="4846320" cy="457200"/>
          </a:xfrm>
          <a:prstGeom prst="rect">
            <a:avLst/>
          </a:prstGeom>
          <a:noFill/>
          <a:ln/>
        </p:spPr>
        <p:txBody>
          <a:bodyPr wrap="square" lIns="0" tIns="0" rIns="0" bIns="0" rtlCol="0" anchor="ctr"/>
          <a:lstStyle/>
          <a:p>
            <a:pPr indent="0" marL="0">
              <a:lnSpc>
                <a:spcPts val="1700"/>
              </a:lnSpc>
              <a:buNone/>
            </a:pPr>
            <a:r>
              <a:rPr lang="en-US" sz="1250" b="1" dirty="0">
                <a:solidFill>
                  <a:srgbClr val="B0453B"/>
                </a:solidFill>
                <a:latin typeface="Calibri" pitchFamily="34" charset="0"/>
                <a:ea typeface="Calibri" pitchFamily="34" charset="-122"/>
                <a:cs typeface="Calibri" pitchFamily="34" charset="-120"/>
              </a:rPr>
              <a:t>✕  </a:t>
            </a:r>
            <a:pPr indent="0" marL="0">
              <a:lnSpc>
                <a:spcPts val="1700"/>
              </a:lnSpc>
              <a:buNone/>
            </a:pPr>
            <a:r>
              <a:rPr lang="en-US" sz="1250" i="1" dirty="0">
                <a:solidFill>
                  <a:srgbClr val="7C8492"/>
                </a:solidFill>
                <a:latin typeface="Calibri" pitchFamily="34" charset="0"/>
                <a:ea typeface="Calibri" pitchFamily="34" charset="-122"/>
                <a:cs typeface="Calibri" pitchFamily="34" charset="-120"/>
              </a:rPr>
              <a:t>Naïve reading: a HK book 'fell' 206m → 26m.</a:t>
            </a:r>
            <a:endParaRPr lang="en-US" sz="1250" dirty="0"/>
          </a:p>
        </p:txBody>
      </p:sp>
      <p:sp>
        <p:nvSpPr>
          <p:cNvPr id="7" name="Text 5"/>
          <p:cNvSpPr txBox="1"/>
          <p:nvPr/>
        </p:nvSpPr>
        <p:spPr>
          <a:xfrm>
            <a:off x="822960" y="3017520"/>
            <a:ext cx="4846320" cy="640080"/>
          </a:xfrm>
          <a:prstGeom prst="rect">
            <a:avLst/>
          </a:prstGeom>
          <a:noFill/>
          <a:ln/>
        </p:spPr>
        <p:txBody>
          <a:bodyPr wrap="square" lIns="0" tIns="0" rIns="0" bIns="0" rtlCol="0" anchor="ctr"/>
          <a:lstStyle/>
          <a:p>
            <a:pPr indent="0" marL="0">
              <a:lnSpc>
                <a:spcPts val="1700"/>
              </a:lnSpc>
              <a:buNone/>
            </a:pPr>
            <a:r>
              <a:rPr lang="en-US" sz="1250" b="1" dirty="0">
                <a:solidFill>
                  <a:srgbClr val="5F8F7A"/>
                </a:solidFill>
                <a:latin typeface="Calibri" pitchFamily="34" charset="0"/>
                <a:ea typeface="Calibri" pitchFamily="34" charset="-122"/>
                <a:cs typeface="Calibri" pitchFamily="34" charset="-120"/>
              </a:rPr>
              <a:t>✓  </a:t>
            </a:r>
            <a:pPr indent="0" marL="0">
              <a:lnSpc>
                <a:spcPts val="1700"/>
              </a:lnSpc>
              <a:buNone/>
            </a:pPr>
            <a:r>
              <a:rPr lang="en-US" sz="1250" dirty="0">
                <a:solidFill>
                  <a:srgbClr val="ECE7DD"/>
                </a:solidFill>
                <a:latin typeface="Calibri" pitchFamily="34" charset="0"/>
                <a:ea typeface="Calibri" pitchFamily="34" charset="-122"/>
                <a:cs typeface="Calibri" pitchFamily="34" charset="-120"/>
              </a:rPr>
              <a:t>We value from market_value_usd, never the base-currency AUM columns — an FX conversion is not a loss.</a:t>
            </a:r>
            <a:endParaRPr lang="en-US" sz="1250" dirty="0"/>
          </a:p>
        </p:txBody>
      </p:sp>
      <p:sp>
        <p:nvSpPr>
          <p:cNvPr id="8" name="Shape 6"/>
          <p:cNvSpPr/>
          <p:nvPr/>
        </p:nvSpPr>
        <p:spPr>
          <a:xfrm>
            <a:off x="6172200" y="1874520"/>
            <a:ext cx="5394960" cy="1920240"/>
          </a:xfrm>
          <a:prstGeom prst="roundRect">
            <a:avLst>
              <a:gd name="adj" fmla="val 4286"/>
            </a:avLst>
          </a:prstGeom>
          <a:solidFill>
            <a:srgbClr val="16233A"/>
          </a:solidFill>
          <a:ln w="12700">
            <a:solidFill>
              <a:srgbClr val="2A3752"/>
            </a:solidFill>
            <a:prstDash val="solid"/>
          </a:ln>
        </p:spPr>
      </p:sp>
      <p:sp>
        <p:nvSpPr>
          <p:cNvPr id="9" name="Text 7"/>
          <p:cNvSpPr txBox="1"/>
          <p:nvPr/>
        </p:nvSpPr>
        <p:spPr>
          <a:xfrm>
            <a:off x="6446520" y="2075688"/>
            <a:ext cx="4846320" cy="365760"/>
          </a:xfrm>
          <a:prstGeom prst="rect">
            <a:avLst/>
          </a:prstGeom>
          <a:noFill/>
          <a:ln/>
        </p:spPr>
        <p:txBody>
          <a:bodyPr wrap="square" lIns="0" tIns="0" rIns="0" bIns="0" rtlCol="0" anchor="ctr"/>
          <a:lstStyle/>
          <a:p>
            <a:pPr indent="0" marL="0">
              <a:buNone/>
            </a:pPr>
            <a:r>
              <a:rPr lang="en-US" sz="1700" b="1" dirty="0">
                <a:solidFill>
                  <a:srgbClr val="C9A86A"/>
                </a:solidFill>
                <a:latin typeface="Cambria" pitchFamily="34" charset="0"/>
                <a:ea typeface="Cambria" pitchFamily="34" charset="-122"/>
                <a:cs typeface="Cambria" pitchFamily="34" charset="-120"/>
              </a:rPr>
              <a:t>Custody vs managed</a:t>
            </a:r>
            <a:endParaRPr lang="en-US" sz="1700" dirty="0"/>
          </a:p>
        </p:txBody>
      </p:sp>
      <p:sp>
        <p:nvSpPr>
          <p:cNvPr id="10" name="Text 8"/>
          <p:cNvSpPr txBox="1"/>
          <p:nvPr/>
        </p:nvSpPr>
        <p:spPr>
          <a:xfrm>
            <a:off x="6446520" y="2532888"/>
            <a:ext cx="4846320" cy="457200"/>
          </a:xfrm>
          <a:prstGeom prst="rect">
            <a:avLst/>
          </a:prstGeom>
          <a:noFill/>
          <a:ln/>
        </p:spPr>
        <p:txBody>
          <a:bodyPr wrap="square" lIns="0" tIns="0" rIns="0" bIns="0" rtlCol="0" anchor="ctr"/>
          <a:lstStyle/>
          <a:p>
            <a:pPr indent="0" marL="0">
              <a:lnSpc>
                <a:spcPts val="1700"/>
              </a:lnSpc>
              <a:buNone/>
            </a:pPr>
            <a:r>
              <a:rPr lang="en-US" sz="1250" b="1" dirty="0">
                <a:solidFill>
                  <a:srgbClr val="B0453B"/>
                </a:solidFill>
                <a:latin typeface="Calibri" pitchFamily="34" charset="0"/>
                <a:ea typeface="Calibri" pitchFamily="34" charset="-122"/>
                <a:cs typeface="Calibri" pitchFamily="34" charset="-120"/>
              </a:rPr>
              <a:t>✕  </a:t>
            </a:r>
            <a:pPr indent="0" marL="0">
              <a:lnSpc>
                <a:spcPts val="1700"/>
              </a:lnSpc>
              <a:buNone/>
            </a:pPr>
            <a:r>
              <a:rPr lang="en-US" sz="1250" i="1" dirty="0">
                <a:solidFill>
                  <a:srgbClr val="7C8492"/>
                </a:solidFill>
                <a:latin typeface="Calibri" pitchFamily="34" charset="0"/>
                <a:ea typeface="Calibri" pitchFamily="34" charset="-122"/>
                <a:cs typeface="Calibri" pitchFamily="34" charset="-120"/>
              </a:rPr>
              <a:t>Naïve reading: a 41% family stake is a breach.</a:t>
            </a:r>
            <a:endParaRPr lang="en-US" sz="1250" dirty="0"/>
          </a:p>
        </p:txBody>
      </p:sp>
      <p:sp>
        <p:nvSpPr>
          <p:cNvPr id="11" name="Text 9"/>
          <p:cNvSpPr txBox="1"/>
          <p:nvPr/>
        </p:nvSpPr>
        <p:spPr>
          <a:xfrm>
            <a:off x="6446520" y="3017520"/>
            <a:ext cx="4846320" cy="640080"/>
          </a:xfrm>
          <a:prstGeom prst="rect">
            <a:avLst/>
          </a:prstGeom>
          <a:noFill/>
          <a:ln/>
        </p:spPr>
        <p:txBody>
          <a:bodyPr wrap="square" lIns="0" tIns="0" rIns="0" bIns="0" rtlCol="0" anchor="ctr"/>
          <a:lstStyle/>
          <a:p>
            <a:pPr indent="0" marL="0">
              <a:lnSpc>
                <a:spcPts val="1700"/>
              </a:lnSpc>
              <a:buNone/>
            </a:pPr>
            <a:r>
              <a:rPr lang="en-US" sz="1250" b="1" dirty="0">
                <a:solidFill>
                  <a:srgbClr val="5F8F7A"/>
                </a:solidFill>
                <a:latin typeface="Calibri" pitchFamily="34" charset="0"/>
                <a:ea typeface="Calibri" pitchFamily="34" charset="-122"/>
                <a:cs typeface="Calibri" pitchFamily="34" charset="-120"/>
              </a:rPr>
              <a:t>✓  </a:t>
            </a:r>
            <a:pPr indent="0" marL="0">
              <a:lnSpc>
                <a:spcPts val="1700"/>
              </a:lnSpc>
              <a:buNone/>
            </a:pPr>
            <a:r>
              <a:rPr lang="en-US" sz="1250" dirty="0">
                <a:solidFill>
                  <a:srgbClr val="ECE7DD"/>
                </a:solidFill>
                <a:latin typeface="Calibri" pitchFamily="34" charset="0"/>
                <a:ea typeface="Calibri" pitchFamily="34" charset="-122"/>
                <a:cs typeface="Calibri" pitchFamily="34" charset="-120"/>
              </a:rPr>
              <a:t>It sits in a custody account — outside mandate governance. A concentration to discuss, not a breach to correct.</a:t>
            </a:r>
            <a:endParaRPr lang="en-US" sz="1250" dirty="0"/>
          </a:p>
        </p:txBody>
      </p:sp>
      <p:sp>
        <p:nvSpPr>
          <p:cNvPr id="12" name="Shape 10"/>
          <p:cNvSpPr/>
          <p:nvPr/>
        </p:nvSpPr>
        <p:spPr>
          <a:xfrm>
            <a:off x="548640" y="4023360"/>
            <a:ext cx="5394960" cy="1920240"/>
          </a:xfrm>
          <a:prstGeom prst="roundRect">
            <a:avLst>
              <a:gd name="adj" fmla="val 4286"/>
            </a:avLst>
          </a:prstGeom>
          <a:solidFill>
            <a:srgbClr val="16233A"/>
          </a:solidFill>
          <a:ln w="12700">
            <a:solidFill>
              <a:srgbClr val="2A3752"/>
            </a:solidFill>
            <a:prstDash val="solid"/>
          </a:ln>
        </p:spPr>
      </p:sp>
      <p:sp>
        <p:nvSpPr>
          <p:cNvPr id="13" name="Text 11"/>
          <p:cNvSpPr txBox="1"/>
          <p:nvPr/>
        </p:nvSpPr>
        <p:spPr>
          <a:xfrm>
            <a:off x="822960" y="4224528"/>
            <a:ext cx="4846320" cy="365760"/>
          </a:xfrm>
          <a:prstGeom prst="rect">
            <a:avLst/>
          </a:prstGeom>
          <a:noFill/>
          <a:ln/>
        </p:spPr>
        <p:txBody>
          <a:bodyPr wrap="square" lIns="0" tIns="0" rIns="0" bIns="0" rtlCol="0" anchor="ctr"/>
          <a:lstStyle/>
          <a:p>
            <a:pPr indent="0" marL="0">
              <a:buNone/>
            </a:pPr>
            <a:r>
              <a:rPr lang="en-US" sz="1700" b="1" dirty="0">
                <a:solidFill>
                  <a:srgbClr val="C9A86A"/>
                </a:solidFill>
                <a:latin typeface="Cambria" pitchFamily="34" charset="0"/>
                <a:ea typeface="Cambria" pitchFamily="34" charset="-122"/>
                <a:cs typeface="Cambria" pitchFamily="34" charset="-120"/>
              </a:rPr>
              <a:t>Encumbered liquidity</a:t>
            </a:r>
            <a:endParaRPr lang="en-US" sz="1700" dirty="0"/>
          </a:p>
        </p:txBody>
      </p:sp>
      <p:sp>
        <p:nvSpPr>
          <p:cNvPr id="14" name="Text 12"/>
          <p:cNvSpPr txBox="1"/>
          <p:nvPr/>
        </p:nvSpPr>
        <p:spPr>
          <a:xfrm>
            <a:off x="822960" y="4681728"/>
            <a:ext cx="4846320" cy="457200"/>
          </a:xfrm>
          <a:prstGeom prst="rect">
            <a:avLst/>
          </a:prstGeom>
          <a:noFill/>
          <a:ln/>
        </p:spPr>
        <p:txBody>
          <a:bodyPr wrap="square" lIns="0" tIns="0" rIns="0" bIns="0" rtlCol="0" anchor="ctr"/>
          <a:lstStyle/>
          <a:p>
            <a:pPr indent="0" marL="0">
              <a:lnSpc>
                <a:spcPts val="1700"/>
              </a:lnSpc>
              <a:buNone/>
            </a:pPr>
            <a:r>
              <a:rPr lang="en-US" sz="1250" b="1" dirty="0">
                <a:solidFill>
                  <a:srgbClr val="B0453B"/>
                </a:solidFill>
                <a:latin typeface="Calibri" pitchFamily="34" charset="0"/>
                <a:ea typeface="Calibri" pitchFamily="34" charset="-122"/>
                <a:cs typeface="Calibri" pitchFamily="34" charset="-120"/>
              </a:rPr>
              <a:t>✕  </a:t>
            </a:r>
            <a:pPr indent="0" marL="0">
              <a:lnSpc>
                <a:spcPts val="1700"/>
              </a:lnSpc>
              <a:buNone/>
            </a:pPr>
            <a:r>
              <a:rPr lang="en-US" sz="1250" i="1" dirty="0">
                <a:solidFill>
                  <a:srgbClr val="7C8492"/>
                </a:solidFill>
                <a:latin typeface="Calibri" pitchFamily="34" charset="0"/>
                <a:ea typeface="Calibri" pitchFamily="34" charset="-122"/>
                <a:cs typeface="Calibri" pitchFamily="34" charset="-120"/>
              </a:rPr>
              <a:t>Naïve reading: USD 19m looks 'sellable'.</a:t>
            </a:r>
            <a:endParaRPr lang="en-US" sz="1250" dirty="0"/>
          </a:p>
        </p:txBody>
      </p:sp>
      <p:sp>
        <p:nvSpPr>
          <p:cNvPr id="15" name="Text 13"/>
          <p:cNvSpPr txBox="1"/>
          <p:nvPr/>
        </p:nvSpPr>
        <p:spPr>
          <a:xfrm>
            <a:off x="822960" y="5166360"/>
            <a:ext cx="4846320" cy="640080"/>
          </a:xfrm>
          <a:prstGeom prst="rect">
            <a:avLst/>
          </a:prstGeom>
          <a:noFill/>
          <a:ln/>
        </p:spPr>
        <p:txBody>
          <a:bodyPr wrap="square" lIns="0" tIns="0" rIns="0" bIns="0" rtlCol="0" anchor="ctr"/>
          <a:lstStyle/>
          <a:p>
            <a:pPr indent="0" marL="0">
              <a:lnSpc>
                <a:spcPts val="1700"/>
              </a:lnSpc>
              <a:buNone/>
            </a:pPr>
            <a:r>
              <a:rPr lang="en-US" sz="1250" b="1" dirty="0">
                <a:solidFill>
                  <a:srgbClr val="5F8F7A"/>
                </a:solidFill>
                <a:latin typeface="Calibri" pitchFamily="34" charset="0"/>
                <a:ea typeface="Calibri" pitchFamily="34" charset="-122"/>
                <a:cs typeface="Calibri" pitchFamily="34" charset="-120"/>
              </a:rPr>
              <a:t>✓  </a:t>
            </a:r>
            <a:pPr indent="0" marL="0">
              <a:lnSpc>
                <a:spcPts val="1700"/>
              </a:lnSpc>
              <a:buNone/>
            </a:pPr>
            <a:r>
              <a:rPr lang="en-US" sz="1250" dirty="0">
                <a:solidFill>
                  <a:srgbClr val="ECE7DD"/>
                </a:solidFill>
                <a:latin typeface="Calibri" pitchFamily="34" charset="0"/>
                <a:ea typeface="Calibri" pitchFamily="34" charset="-122"/>
                <a:cs typeface="Calibri" pitchFamily="34" charset="-120"/>
              </a:rPr>
              <a:t>Most is pledged to a Lombard loan. Net it out → USD 12m genuinely free.</a:t>
            </a:r>
            <a:endParaRPr lang="en-US" sz="1250" dirty="0"/>
          </a:p>
        </p:txBody>
      </p:sp>
      <p:sp>
        <p:nvSpPr>
          <p:cNvPr id="16" name="Shape 14"/>
          <p:cNvSpPr/>
          <p:nvPr/>
        </p:nvSpPr>
        <p:spPr>
          <a:xfrm>
            <a:off x="6172200" y="4023360"/>
            <a:ext cx="5394960" cy="1920240"/>
          </a:xfrm>
          <a:prstGeom prst="roundRect">
            <a:avLst>
              <a:gd name="adj" fmla="val 4286"/>
            </a:avLst>
          </a:prstGeom>
          <a:solidFill>
            <a:srgbClr val="16233A"/>
          </a:solidFill>
          <a:ln w="12700">
            <a:solidFill>
              <a:srgbClr val="2A3752"/>
            </a:solidFill>
            <a:prstDash val="solid"/>
          </a:ln>
        </p:spPr>
      </p:sp>
      <p:sp>
        <p:nvSpPr>
          <p:cNvPr id="17" name="Text 15"/>
          <p:cNvSpPr txBox="1"/>
          <p:nvPr/>
        </p:nvSpPr>
        <p:spPr>
          <a:xfrm>
            <a:off x="6446520" y="4224528"/>
            <a:ext cx="4846320" cy="365760"/>
          </a:xfrm>
          <a:prstGeom prst="rect">
            <a:avLst/>
          </a:prstGeom>
          <a:noFill/>
          <a:ln/>
        </p:spPr>
        <p:txBody>
          <a:bodyPr wrap="square" lIns="0" tIns="0" rIns="0" bIns="0" rtlCol="0" anchor="ctr"/>
          <a:lstStyle/>
          <a:p>
            <a:pPr indent="0" marL="0">
              <a:buNone/>
            </a:pPr>
            <a:r>
              <a:rPr lang="en-US" sz="1700" b="1" dirty="0">
                <a:solidFill>
                  <a:srgbClr val="C9A86A"/>
                </a:solidFill>
                <a:latin typeface="Cambria" pitchFamily="34" charset="0"/>
                <a:ea typeface="Cambria" pitchFamily="34" charset="-122"/>
                <a:cs typeface="Cambria" pitchFamily="34" charset="-120"/>
              </a:rPr>
              <a:t>Look-through</a:t>
            </a:r>
            <a:endParaRPr lang="en-US" sz="1700" dirty="0"/>
          </a:p>
        </p:txBody>
      </p:sp>
      <p:sp>
        <p:nvSpPr>
          <p:cNvPr id="18" name="Text 16"/>
          <p:cNvSpPr txBox="1"/>
          <p:nvPr/>
        </p:nvSpPr>
        <p:spPr>
          <a:xfrm>
            <a:off x="6446520" y="4681728"/>
            <a:ext cx="4846320" cy="457200"/>
          </a:xfrm>
          <a:prstGeom prst="rect">
            <a:avLst/>
          </a:prstGeom>
          <a:noFill/>
          <a:ln/>
        </p:spPr>
        <p:txBody>
          <a:bodyPr wrap="square" lIns="0" tIns="0" rIns="0" bIns="0" rtlCol="0" anchor="ctr"/>
          <a:lstStyle/>
          <a:p>
            <a:pPr indent="0" marL="0">
              <a:lnSpc>
                <a:spcPts val="1700"/>
              </a:lnSpc>
              <a:buNone/>
            </a:pPr>
            <a:r>
              <a:rPr lang="en-US" sz="1250" b="1" dirty="0">
                <a:solidFill>
                  <a:srgbClr val="B0453B"/>
                </a:solidFill>
                <a:latin typeface="Calibri" pitchFamily="34" charset="0"/>
                <a:ea typeface="Calibri" pitchFamily="34" charset="-122"/>
                <a:cs typeface="Calibri" pitchFamily="34" charset="-120"/>
              </a:rPr>
              <a:t>✕  </a:t>
            </a:r>
            <a:pPr indent="0" marL="0">
              <a:lnSpc>
                <a:spcPts val="1700"/>
              </a:lnSpc>
              <a:buNone/>
            </a:pPr>
            <a:r>
              <a:rPr lang="en-US" sz="1250" i="1" dirty="0">
                <a:solidFill>
                  <a:srgbClr val="7C8492"/>
                </a:solidFill>
                <a:latin typeface="Calibri" pitchFamily="34" charset="0"/>
                <a:ea typeface="Calibri" pitchFamily="34" charset="-122"/>
                <a:cs typeface="Calibri" pitchFamily="34" charset="-120"/>
              </a:rPr>
              <a:t>Naïve reading: three small positions.</a:t>
            </a:r>
            <a:endParaRPr lang="en-US" sz="1250" dirty="0"/>
          </a:p>
        </p:txBody>
      </p:sp>
      <p:sp>
        <p:nvSpPr>
          <p:cNvPr id="19" name="Text 17"/>
          <p:cNvSpPr txBox="1"/>
          <p:nvPr/>
        </p:nvSpPr>
        <p:spPr>
          <a:xfrm>
            <a:off x="6446520" y="5166360"/>
            <a:ext cx="4846320" cy="640080"/>
          </a:xfrm>
          <a:prstGeom prst="rect">
            <a:avLst/>
          </a:prstGeom>
          <a:noFill/>
          <a:ln/>
        </p:spPr>
        <p:txBody>
          <a:bodyPr wrap="square" lIns="0" tIns="0" rIns="0" bIns="0" rtlCol="0" anchor="ctr"/>
          <a:lstStyle/>
          <a:p>
            <a:pPr indent="0" marL="0">
              <a:lnSpc>
                <a:spcPts val="1700"/>
              </a:lnSpc>
              <a:buNone/>
            </a:pPr>
            <a:r>
              <a:rPr lang="en-US" sz="1250" b="1" dirty="0">
                <a:solidFill>
                  <a:srgbClr val="5F8F7A"/>
                </a:solidFill>
                <a:latin typeface="Calibri" pitchFamily="34" charset="0"/>
                <a:ea typeface="Calibri" pitchFamily="34" charset="-122"/>
                <a:cs typeface="Calibri" pitchFamily="34" charset="-120"/>
              </a:rPr>
              <a:t>✓  </a:t>
            </a:r>
            <a:pPr indent="0" marL="0">
              <a:lnSpc>
                <a:spcPts val="1700"/>
              </a:lnSpc>
              <a:buNone/>
            </a:pPr>
            <a:r>
              <a:rPr lang="en-US" sz="1250" dirty="0">
                <a:solidFill>
                  <a:srgbClr val="ECE7DD"/>
                </a:solidFill>
                <a:latin typeface="Calibri" pitchFamily="34" charset="0"/>
                <a:ea typeface="Calibri" pitchFamily="34" charset="-122"/>
                <a:cs typeface="Calibri" pitchFamily="34" charset="-120"/>
              </a:rPr>
              <a:t>Stock + perpetual + accumulator = one ~29% bet on a single name.</a:t>
            </a:r>
            <a:endParaRPr lang="en-US" sz="1250" dirty="0"/>
          </a:p>
        </p:txBody>
      </p:sp>
      <p:sp>
        <p:nvSpPr>
          <p:cNvPr id="20" name="Text 1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7C8492"/>
                </a:solidFill>
                <a:latin typeface="Calibri" pitchFamily="34" charset="0"/>
                <a:ea typeface="Calibri" pitchFamily="34" charset="-122"/>
                <a:cs typeface="Calibri" pitchFamily="34" charset="-120"/>
              </a:rPr>
              <a:t>Wealth Intelligence · Julius Baer · Track #1</a:t>
            </a:r>
            <a:endParaRPr lang="en-US" sz="900" dirty="0"/>
          </a:p>
        </p:txBody>
      </p:sp>
      <p:sp>
        <p:nvSpPr>
          <p:cNvPr id="21" name="Text 19"/>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7C8492"/>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320"/>
        </a:solidFill>
      </p:bgPr>
    </p:bg>
    <p:spTree>
      <p:nvGrpSpPr>
        <p:cNvPr id="1" name=""/>
        <p:cNvGrpSpPr/>
        <p:nvPr/>
      </p:nvGrpSpPr>
      <p:grpSpPr>
        <a:xfrm>
          <a:off x="0" y="0"/>
          <a:ext cx="0" cy="0"/>
          <a:chOff x="0" y="0"/>
          <a:chExt cx="0" cy="0"/>
        </a:xfrm>
      </p:grpSpPr>
      <p:sp>
        <p:nvSpPr>
          <p:cNvPr id="2" name="Text 0"/>
          <p:cNvSpPr txBox="1"/>
          <p:nvPr/>
        </p:nvSpPr>
        <p:spPr>
          <a:xfrm>
            <a:off x="566928" y="457200"/>
            <a:ext cx="9144000" cy="274320"/>
          </a:xfrm>
          <a:prstGeom prst="rect">
            <a:avLst/>
          </a:prstGeom>
          <a:noFill/>
          <a:ln/>
        </p:spPr>
        <p:txBody>
          <a:bodyPr wrap="square" lIns="0" tIns="0" rIns="0" bIns="0" rtlCol="0" anchor="ctr"/>
          <a:lstStyle/>
          <a:p>
            <a:pPr indent="0" marL="0">
              <a:buNone/>
            </a:pPr>
            <a:r>
              <a:rPr lang="en-US" sz="1150" b="1" spc="300" kern="0" dirty="0">
                <a:solidFill>
                  <a:srgbClr val="C9A86A"/>
                </a:solidFill>
                <a:latin typeface="Calibri" pitchFamily="34" charset="0"/>
                <a:ea typeface="Calibri" pitchFamily="34" charset="-122"/>
                <a:cs typeface="Calibri" pitchFamily="34" charset="-120"/>
              </a:rPr>
              <a:t>04 · HOW IT WORKS · THE BOUNDARY</a:t>
            </a:r>
            <a:endParaRPr lang="en-US" sz="1150" dirty="0"/>
          </a:p>
        </p:txBody>
      </p:sp>
      <p:sp>
        <p:nvSpPr>
          <p:cNvPr id="3" name="Text 1"/>
          <p:cNvSpPr txBox="1"/>
          <p:nvPr/>
        </p:nvSpPr>
        <p:spPr>
          <a:xfrm>
            <a:off x="548640" y="749808"/>
            <a:ext cx="10972800" cy="914400"/>
          </a:xfrm>
          <a:prstGeom prst="rect">
            <a:avLst/>
          </a:prstGeom>
          <a:noFill/>
          <a:ln/>
        </p:spPr>
        <p:txBody>
          <a:bodyPr wrap="square" lIns="0" tIns="0" rIns="0" bIns="0" rtlCol="0" anchor="ctr"/>
          <a:lstStyle/>
          <a:p>
            <a:pPr indent="0" marL="0">
              <a:lnSpc>
                <a:spcPts val="3360"/>
              </a:lnSpc>
              <a:buNone/>
            </a:pPr>
            <a:r>
              <a:rPr lang="en-US" sz="3200" b="1" dirty="0">
                <a:solidFill>
                  <a:srgbClr val="ECE7DD"/>
                </a:solidFill>
                <a:latin typeface="Cambria" pitchFamily="34" charset="0"/>
                <a:ea typeface="Cambria" pitchFamily="34" charset="-122"/>
                <a:cs typeface="Cambria" pitchFamily="34" charset="-120"/>
              </a:rPr>
              <a:t>The model explains. It never computes.</a:t>
            </a:r>
            <a:endParaRPr lang="en-US" sz="3200" dirty="0"/>
          </a:p>
        </p:txBody>
      </p:sp>
      <p:sp>
        <p:nvSpPr>
          <p:cNvPr id="4" name="Shape 2"/>
          <p:cNvSpPr/>
          <p:nvPr/>
        </p:nvSpPr>
        <p:spPr>
          <a:xfrm>
            <a:off x="548640" y="1920240"/>
            <a:ext cx="5257800" cy="3840480"/>
          </a:xfrm>
          <a:prstGeom prst="roundRect">
            <a:avLst>
              <a:gd name="adj" fmla="val 2143"/>
            </a:avLst>
          </a:prstGeom>
          <a:solidFill>
            <a:srgbClr val="1B2A42"/>
          </a:solidFill>
          <a:ln w="12700">
            <a:solidFill>
              <a:srgbClr val="2A3752"/>
            </a:solidFill>
            <a:prstDash val="solid"/>
          </a:ln>
        </p:spPr>
      </p:sp>
      <p:sp>
        <p:nvSpPr>
          <p:cNvPr id="5" name="Text 3"/>
          <p:cNvSpPr txBox="1"/>
          <p:nvPr/>
        </p:nvSpPr>
        <p:spPr>
          <a:xfrm>
            <a:off x="822960" y="2148840"/>
            <a:ext cx="4754880" cy="320040"/>
          </a:xfrm>
          <a:prstGeom prst="rect">
            <a:avLst/>
          </a:prstGeom>
          <a:noFill/>
          <a:ln/>
        </p:spPr>
        <p:txBody>
          <a:bodyPr wrap="square" lIns="0" tIns="0" rIns="0" bIns="0" rtlCol="0" anchor="ctr"/>
          <a:lstStyle/>
          <a:p>
            <a:pPr indent="0" marL="0">
              <a:buNone/>
            </a:pPr>
            <a:r>
              <a:rPr lang="en-US" sz="1200" b="1" spc="200" kern="0" dirty="0">
                <a:solidFill>
                  <a:srgbClr val="C9A86A"/>
                </a:solidFill>
                <a:latin typeface="Calibri" pitchFamily="34" charset="0"/>
                <a:ea typeface="Calibri" pitchFamily="34" charset="-122"/>
                <a:cs typeface="Calibri" pitchFamily="34" charset="-120"/>
              </a:rPr>
              <a:t>DETERMINISTIC ENGINE</a:t>
            </a:r>
            <a:endParaRPr lang="en-US" sz="1200" dirty="0"/>
          </a:p>
        </p:txBody>
      </p:sp>
      <p:sp>
        <p:nvSpPr>
          <p:cNvPr id="6" name="Text 4"/>
          <p:cNvSpPr txBox="1"/>
          <p:nvPr/>
        </p:nvSpPr>
        <p:spPr>
          <a:xfrm>
            <a:off x="868680" y="2606040"/>
            <a:ext cx="4663440" cy="457200"/>
          </a:xfrm>
          <a:prstGeom prst="rect">
            <a:avLst/>
          </a:prstGeom>
          <a:noFill/>
          <a:ln/>
        </p:spPr>
        <p:txBody>
          <a:bodyPr wrap="square" lIns="0" tIns="0" rIns="0" bIns="0" rtlCol="0" anchor="ctr"/>
          <a:lstStyle/>
          <a:p>
            <a:pPr indent="0" marL="0">
              <a:buNone/>
            </a:pPr>
            <a:r>
              <a:rPr lang="en-US" sz="1400" dirty="0">
                <a:solidFill>
                  <a:srgbClr val="C9A86A"/>
                </a:solidFill>
                <a:latin typeface="Calibri" pitchFamily="34" charset="0"/>
                <a:ea typeface="Calibri" pitchFamily="34" charset="-122"/>
                <a:cs typeface="Calibri" pitchFamily="34" charset="-120"/>
              </a:rPr>
              <a:t>◆  </a:t>
            </a:r>
            <a:pPr indent="0" marL="0">
              <a:buNone/>
            </a:pPr>
            <a:r>
              <a:rPr lang="en-US" sz="1400" dirty="0">
                <a:solidFill>
                  <a:srgbClr val="ECE7DD"/>
                </a:solidFill>
                <a:latin typeface="Calibri" pitchFamily="34" charset="0"/>
                <a:ea typeface="Calibri" pitchFamily="34" charset="-122"/>
                <a:cs typeface="Calibri" pitchFamily="34" charset="-120"/>
              </a:rPr>
              <a:t>Every signal computed from the files</a:t>
            </a:r>
            <a:endParaRPr lang="en-US" sz="1400" dirty="0"/>
          </a:p>
        </p:txBody>
      </p:sp>
      <p:sp>
        <p:nvSpPr>
          <p:cNvPr id="7" name="Text 5"/>
          <p:cNvSpPr txBox="1"/>
          <p:nvPr/>
        </p:nvSpPr>
        <p:spPr>
          <a:xfrm>
            <a:off x="868680" y="3264408"/>
            <a:ext cx="4663440" cy="457200"/>
          </a:xfrm>
          <a:prstGeom prst="rect">
            <a:avLst/>
          </a:prstGeom>
          <a:noFill/>
          <a:ln/>
        </p:spPr>
        <p:txBody>
          <a:bodyPr wrap="square" lIns="0" tIns="0" rIns="0" bIns="0" rtlCol="0" anchor="ctr"/>
          <a:lstStyle/>
          <a:p>
            <a:pPr indent="0" marL="0">
              <a:buNone/>
            </a:pPr>
            <a:r>
              <a:rPr lang="en-US" sz="1400" dirty="0">
                <a:solidFill>
                  <a:srgbClr val="C9A86A"/>
                </a:solidFill>
                <a:latin typeface="Calibri" pitchFamily="34" charset="0"/>
                <a:ea typeface="Calibri" pitchFamily="34" charset="-122"/>
                <a:cs typeface="Calibri" pitchFamily="34" charset="-120"/>
              </a:rPr>
              <a:t>◆  </a:t>
            </a:r>
            <a:pPr indent="0" marL="0">
              <a:buNone/>
            </a:pPr>
            <a:r>
              <a:rPr lang="en-US" sz="1400" dirty="0">
                <a:solidFill>
                  <a:srgbClr val="ECE7DD"/>
                </a:solidFill>
                <a:latin typeface="Calibri" pitchFamily="34" charset="0"/>
                <a:ea typeface="Calibri" pitchFamily="34" charset="-122"/>
                <a:cs typeface="Calibri" pitchFamily="34" charset="-120"/>
              </a:rPr>
              <a:t>Each finding carries facts + evidence rows</a:t>
            </a:r>
            <a:endParaRPr lang="en-US" sz="1400" dirty="0"/>
          </a:p>
        </p:txBody>
      </p:sp>
      <p:sp>
        <p:nvSpPr>
          <p:cNvPr id="8" name="Text 6"/>
          <p:cNvSpPr txBox="1"/>
          <p:nvPr/>
        </p:nvSpPr>
        <p:spPr>
          <a:xfrm>
            <a:off x="868680" y="3922776"/>
            <a:ext cx="4663440" cy="457200"/>
          </a:xfrm>
          <a:prstGeom prst="rect">
            <a:avLst/>
          </a:prstGeom>
          <a:noFill/>
          <a:ln/>
        </p:spPr>
        <p:txBody>
          <a:bodyPr wrap="square" lIns="0" tIns="0" rIns="0" bIns="0" rtlCol="0" anchor="ctr"/>
          <a:lstStyle/>
          <a:p>
            <a:pPr indent="0" marL="0">
              <a:buNone/>
            </a:pPr>
            <a:r>
              <a:rPr lang="en-US" sz="1400" dirty="0">
                <a:solidFill>
                  <a:srgbClr val="C9A86A"/>
                </a:solidFill>
                <a:latin typeface="Calibri" pitchFamily="34" charset="0"/>
                <a:ea typeface="Calibri" pitchFamily="34" charset="-122"/>
                <a:cs typeface="Calibri" pitchFamily="34" charset="-120"/>
              </a:rPr>
              <a:t>◆  </a:t>
            </a:r>
            <a:pPr indent="0" marL="0">
              <a:buNone/>
            </a:pPr>
            <a:r>
              <a:rPr lang="en-US" sz="1400" dirty="0">
                <a:solidFill>
                  <a:srgbClr val="ECE7DD"/>
                </a:solidFill>
                <a:latin typeface="Calibri" pitchFamily="34" charset="0"/>
                <a:ea typeface="Calibri" pitchFamily="34" charset="-122"/>
                <a:cs typeface="Calibri" pitchFamily="34" charset="-120"/>
              </a:rPr>
              <a:t>Reproducible, testable, auditable</a:t>
            </a:r>
            <a:endParaRPr lang="en-US" sz="1400" dirty="0"/>
          </a:p>
        </p:txBody>
      </p:sp>
      <p:sp>
        <p:nvSpPr>
          <p:cNvPr id="9" name="Text 7"/>
          <p:cNvSpPr txBox="1"/>
          <p:nvPr/>
        </p:nvSpPr>
        <p:spPr>
          <a:xfrm>
            <a:off x="868680" y="4581144"/>
            <a:ext cx="4663440" cy="457200"/>
          </a:xfrm>
          <a:prstGeom prst="rect">
            <a:avLst/>
          </a:prstGeom>
          <a:noFill/>
          <a:ln/>
        </p:spPr>
        <p:txBody>
          <a:bodyPr wrap="square" lIns="0" tIns="0" rIns="0" bIns="0" rtlCol="0" anchor="ctr"/>
          <a:lstStyle/>
          <a:p>
            <a:pPr indent="0" marL="0">
              <a:buNone/>
            </a:pPr>
            <a:r>
              <a:rPr lang="en-US" sz="1400" dirty="0">
                <a:solidFill>
                  <a:srgbClr val="C9A86A"/>
                </a:solidFill>
                <a:latin typeface="Calibri" pitchFamily="34" charset="0"/>
                <a:ea typeface="Calibri" pitchFamily="34" charset="-122"/>
                <a:cs typeface="Calibri" pitchFamily="34" charset="-120"/>
              </a:rPr>
              <a:t>◆  </a:t>
            </a:r>
            <a:pPr indent="0" marL="0">
              <a:buNone/>
            </a:pPr>
            <a:r>
              <a:rPr lang="en-US" sz="1400" dirty="0">
                <a:solidFill>
                  <a:srgbClr val="ECE7DD"/>
                </a:solidFill>
                <a:latin typeface="Calibri" pitchFamily="34" charset="0"/>
                <a:ea typeface="Calibri" pitchFamily="34" charset="-122"/>
                <a:cs typeface="Calibri" pitchFamily="34" charset="-120"/>
              </a:rPr>
              <a:t>16→19 regression tests pin the behaviour</a:t>
            </a:r>
            <a:endParaRPr lang="en-US" sz="1400" dirty="0"/>
          </a:p>
        </p:txBody>
      </p:sp>
      <p:sp>
        <p:nvSpPr>
          <p:cNvPr id="10" name="Shape 8"/>
          <p:cNvSpPr/>
          <p:nvPr/>
        </p:nvSpPr>
        <p:spPr>
          <a:xfrm>
            <a:off x="5989320" y="2011680"/>
            <a:ext cx="0" cy="3657600"/>
          </a:xfrm>
          <a:prstGeom prst="line">
            <a:avLst/>
          </a:prstGeom>
          <a:noFill/>
          <a:ln w="19050">
            <a:solidFill>
              <a:srgbClr val="C9A86A"/>
            </a:solidFill>
            <a:prstDash val="dash"/>
          </a:ln>
        </p:spPr>
      </p:sp>
      <p:sp>
        <p:nvSpPr>
          <p:cNvPr id="11" name="Text 9"/>
          <p:cNvSpPr txBox="1"/>
          <p:nvPr/>
        </p:nvSpPr>
        <p:spPr>
          <a:xfrm>
            <a:off x="5623560" y="3657600"/>
            <a:ext cx="822960" cy="274320"/>
          </a:xfrm>
          <a:prstGeom prst="rect">
            <a:avLst/>
          </a:prstGeom>
          <a:noFill/>
          <a:ln/>
        </p:spPr>
        <p:txBody>
          <a:bodyPr wrap="square" lIns="0" tIns="0" rIns="0" bIns="0" rtlCol="0" anchor="ctr"/>
          <a:lstStyle/>
          <a:p>
            <a:pPr algn="ctr" indent="0" marL="0">
              <a:buNone/>
            </a:pPr>
            <a:r>
              <a:rPr lang="en-US" sz="1100" i="1" dirty="0">
                <a:solidFill>
                  <a:srgbClr val="C9A86A"/>
                </a:solidFill>
                <a:latin typeface="Calibri" pitchFamily="34" charset="0"/>
                <a:ea typeface="Calibri" pitchFamily="34" charset="-122"/>
                <a:cs typeface="Calibri" pitchFamily="34" charset="-120"/>
              </a:rPr>
              <a:t>facts →</a:t>
            </a:r>
            <a:endParaRPr lang="en-US" sz="1100" dirty="0"/>
          </a:p>
        </p:txBody>
      </p:sp>
      <p:sp>
        <p:nvSpPr>
          <p:cNvPr id="12" name="Shape 10"/>
          <p:cNvSpPr/>
          <p:nvPr/>
        </p:nvSpPr>
        <p:spPr>
          <a:xfrm>
            <a:off x="6355080" y="1920240"/>
            <a:ext cx="5257800" cy="3840480"/>
          </a:xfrm>
          <a:prstGeom prst="roundRect">
            <a:avLst>
              <a:gd name="adj" fmla="val 2143"/>
            </a:avLst>
          </a:prstGeom>
          <a:solidFill>
            <a:srgbClr val="16233A"/>
          </a:solidFill>
          <a:ln w="12700">
            <a:solidFill>
              <a:srgbClr val="2A3752"/>
            </a:solidFill>
            <a:prstDash val="solid"/>
          </a:ln>
        </p:spPr>
      </p:sp>
      <p:sp>
        <p:nvSpPr>
          <p:cNvPr id="13" name="Text 11"/>
          <p:cNvSpPr txBox="1"/>
          <p:nvPr/>
        </p:nvSpPr>
        <p:spPr>
          <a:xfrm>
            <a:off x="6629400" y="2148840"/>
            <a:ext cx="4754880" cy="320040"/>
          </a:xfrm>
          <a:prstGeom prst="rect">
            <a:avLst/>
          </a:prstGeom>
          <a:noFill/>
          <a:ln/>
        </p:spPr>
        <p:txBody>
          <a:bodyPr wrap="square" lIns="0" tIns="0" rIns="0" bIns="0" rtlCol="0" anchor="ctr"/>
          <a:lstStyle/>
          <a:p>
            <a:pPr indent="0" marL="0">
              <a:buNone/>
            </a:pPr>
            <a:r>
              <a:rPr lang="en-US" sz="1200" b="1" spc="200" kern="0" dirty="0">
                <a:solidFill>
                  <a:srgbClr val="7F9BB3"/>
                </a:solidFill>
                <a:latin typeface="Calibri" pitchFamily="34" charset="0"/>
                <a:ea typeface="Calibri" pitchFamily="34" charset="-122"/>
                <a:cs typeface="Calibri" pitchFamily="34" charset="-120"/>
              </a:rPr>
              <a:t>LANGUAGE MODEL — EXPLANATION ONLY</a:t>
            </a:r>
            <a:endParaRPr lang="en-US" sz="1200" dirty="0"/>
          </a:p>
        </p:txBody>
      </p:sp>
      <p:sp>
        <p:nvSpPr>
          <p:cNvPr id="14" name="Text 12"/>
          <p:cNvSpPr txBox="1"/>
          <p:nvPr/>
        </p:nvSpPr>
        <p:spPr>
          <a:xfrm>
            <a:off x="6675120" y="2606040"/>
            <a:ext cx="4663440" cy="457200"/>
          </a:xfrm>
          <a:prstGeom prst="rect">
            <a:avLst/>
          </a:prstGeom>
          <a:noFill/>
          <a:ln/>
        </p:spPr>
        <p:txBody>
          <a:bodyPr wrap="square" lIns="0" tIns="0" rIns="0" bIns="0" rtlCol="0" anchor="ctr"/>
          <a:lstStyle/>
          <a:p>
            <a:pPr indent="0" marL="0">
              <a:buNone/>
            </a:pPr>
            <a:r>
              <a:rPr lang="en-US" sz="1400" dirty="0">
                <a:solidFill>
                  <a:srgbClr val="7F9BB3"/>
                </a:solidFill>
                <a:latin typeface="Calibri" pitchFamily="34" charset="0"/>
                <a:ea typeface="Calibri" pitchFamily="34" charset="-122"/>
                <a:cs typeface="Calibri" pitchFamily="34" charset="-120"/>
              </a:rPr>
              <a:t>◆  </a:t>
            </a:r>
            <a:pPr indent="0" marL="0">
              <a:buNone/>
            </a:pPr>
            <a:r>
              <a:rPr lang="en-US" sz="1400" dirty="0">
                <a:solidFill>
                  <a:srgbClr val="ECE7DD"/>
                </a:solidFill>
                <a:latin typeface="Calibri" pitchFamily="34" charset="0"/>
                <a:ea typeface="Calibri" pitchFamily="34" charset="-122"/>
                <a:cs typeface="Calibri" pitchFamily="34" charset="-120"/>
              </a:rPr>
              <a:t>Turns findings into a plain-English read</a:t>
            </a:r>
            <a:endParaRPr lang="en-US" sz="1400" dirty="0"/>
          </a:p>
        </p:txBody>
      </p:sp>
      <p:sp>
        <p:nvSpPr>
          <p:cNvPr id="15" name="Text 13"/>
          <p:cNvSpPr txBox="1"/>
          <p:nvPr/>
        </p:nvSpPr>
        <p:spPr>
          <a:xfrm>
            <a:off x="6675120" y="3264408"/>
            <a:ext cx="4663440" cy="457200"/>
          </a:xfrm>
          <a:prstGeom prst="rect">
            <a:avLst/>
          </a:prstGeom>
          <a:noFill/>
          <a:ln/>
        </p:spPr>
        <p:txBody>
          <a:bodyPr wrap="square" lIns="0" tIns="0" rIns="0" bIns="0" rtlCol="0" anchor="ctr"/>
          <a:lstStyle/>
          <a:p>
            <a:pPr indent="0" marL="0">
              <a:buNone/>
            </a:pPr>
            <a:r>
              <a:rPr lang="en-US" sz="1400" dirty="0">
                <a:solidFill>
                  <a:srgbClr val="7F9BB3"/>
                </a:solidFill>
                <a:latin typeface="Calibri" pitchFamily="34" charset="0"/>
                <a:ea typeface="Calibri" pitchFamily="34" charset="-122"/>
                <a:cs typeface="Calibri" pitchFamily="34" charset="-120"/>
              </a:rPr>
              <a:t>◆  </a:t>
            </a:r>
            <a:pPr indent="0" marL="0">
              <a:buNone/>
            </a:pPr>
            <a:r>
              <a:rPr lang="en-US" sz="1400" dirty="0">
                <a:solidFill>
                  <a:srgbClr val="ECE7DD"/>
                </a:solidFill>
                <a:latin typeface="Calibri" pitchFamily="34" charset="0"/>
                <a:ea typeface="Calibri" pitchFamily="34" charset="-122"/>
                <a:cs typeface="Calibri" pitchFamily="34" charset="-120"/>
              </a:rPr>
              <a:t>Cites only the facts it was handed</a:t>
            </a:r>
            <a:endParaRPr lang="en-US" sz="1400" dirty="0"/>
          </a:p>
        </p:txBody>
      </p:sp>
      <p:sp>
        <p:nvSpPr>
          <p:cNvPr id="16" name="Text 14"/>
          <p:cNvSpPr txBox="1"/>
          <p:nvPr/>
        </p:nvSpPr>
        <p:spPr>
          <a:xfrm>
            <a:off x="6675120" y="3922776"/>
            <a:ext cx="4663440" cy="457200"/>
          </a:xfrm>
          <a:prstGeom prst="rect">
            <a:avLst/>
          </a:prstGeom>
          <a:noFill/>
          <a:ln/>
        </p:spPr>
        <p:txBody>
          <a:bodyPr wrap="square" lIns="0" tIns="0" rIns="0" bIns="0" rtlCol="0" anchor="ctr"/>
          <a:lstStyle/>
          <a:p>
            <a:pPr indent="0" marL="0">
              <a:buNone/>
            </a:pPr>
            <a:r>
              <a:rPr lang="en-US" sz="1400" dirty="0">
                <a:solidFill>
                  <a:srgbClr val="7F9BB3"/>
                </a:solidFill>
                <a:latin typeface="Calibri" pitchFamily="34" charset="0"/>
                <a:ea typeface="Calibri" pitchFamily="34" charset="-122"/>
                <a:cs typeface="Calibri" pitchFamily="34" charset="-120"/>
              </a:rPr>
              <a:t>◆  </a:t>
            </a:r>
            <a:pPr indent="0" marL="0">
              <a:buNone/>
            </a:pPr>
            <a:r>
              <a:rPr lang="en-US" sz="1400" dirty="0">
                <a:solidFill>
                  <a:srgbClr val="ECE7DD"/>
                </a:solidFill>
                <a:latin typeface="Calibri" pitchFamily="34" charset="0"/>
                <a:ea typeface="Calibri" pitchFamily="34" charset="-122"/>
                <a:cs typeface="Calibri" pitchFamily="34" charset="-120"/>
              </a:rPr>
              <a:t>Refuses / flags uncertainty honestly</a:t>
            </a:r>
            <a:endParaRPr lang="en-US" sz="1400" dirty="0"/>
          </a:p>
        </p:txBody>
      </p:sp>
      <p:sp>
        <p:nvSpPr>
          <p:cNvPr id="17" name="Text 15"/>
          <p:cNvSpPr txBox="1"/>
          <p:nvPr/>
        </p:nvSpPr>
        <p:spPr>
          <a:xfrm>
            <a:off x="6675120" y="4581144"/>
            <a:ext cx="4663440" cy="457200"/>
          </a:xfrm>
          <a:prstGeom prst="rect">
            <a:avLst/>
          </a:prstGeom>
          <a:noFill/>
          <a:ln/>
        </p:spPr>
        <p:txBody>
          <a:bodyPr wrap="square" lIns="0" tIns="0" rIns="0" bIns="0" rtlCol="0" anchor="ctr"/>
          <a:lstStyle/>
          <a:p>
            <a:pPr indent="0" marL="0">
              <a:buNone/>
            </a:pPr>
            <a:r>
              <a:rPr lang="en-US" sz="1400" dirty="0">
                <a:solidFill>
                  <a:srgbClr val="7F9BB3"/>
                </a:solidFill>
                <a:latin typeface="Calibri" pitchFamily="34" charset="0"/>
                <a:ea typeface="Calibri" pitchFamily="34" charset="-122"/>
                <a:cs typeface="Calibri" pitchFamily="34" charset="-120"/>
              </a:rPr>
              <a:t>◆  </a:t>
            </a:r>
            <a:pPr indent="0" marL="0">
              <a:buNone/>
            </a:pPr>
            <a:r>
              <a:rPr lang="en-US" sz="1400" dirty="0">
                <a:solidFill>
                  <a:srgbClr val="ECE7DD"/>
                </a:solidFill>
                <a:latin typeface="Calibri" pitchFamily="34" charset="0"/>
                <a:ea typeface="Calibri" pitchFamily="34" charset="-122"/>
                <a:cs typeface="Calibri" pitchFamily="34" charset="-120"/>
              </a:rPr>
              <a:t>Cached + deterministic offline fallback</a:t>
            </a:r>
            <a:endParaRPr lang="en-US" sz="1400" dirty="0"/>
          </a:p>
        </p:txBody>
      </p:sp>
      <p:sp>
        <p:nvSpPr>
          <p:cNvPr id="18" name="Text 16"/>
          <p:cNvSpPr txBox="1"/>
          <p:nvPr/>
        </p:nvSpPr>
        <p:spPr>
          <a:xfrm>
            <a:off x="548640" y="5989320"/>
            <a:ext cx="10972800" cy="457200"/>
          </a:xfrm>
          <a:prstGeom prst="rect">
            <a:avLst/>
          </a:prstGeom>
          <a:noFill/>
          <a:ln/>
        </p:spPr>
        <p:txBody>
          <a:bodyPr wrap="square" lIns="0" tIns="0" rIns="0" bIns="0" rtlCol="0" anchor="ctr"/>
          <a:lstStyle/>
          <a:p>
            <a:pPr indent="0" marL="0">
              <a:buNone/>
            </a:pPr>
            <a:r>
              <a:rPr lang="en-US" sz="1350" b="1" dirty="0">
                <a:solidFill>
                  <a:srgbClr val="CF8A3C"/>
                </a:solidFill>
                <a:latin typeface="Calibri" pitchFamily="34" charset="0"/>
                <a:ea typeface="Calibri" pitchFamily="34" charset="-122"/>
                <a:cs typeface="Calibri" pitchFamily="34" charset="-120"/>
              </a:rPr>
              <a:t>Trade-off:  </a:t>
            </a:r>
            <a:pPr indent="0" marL="0">
              <a:buNone/>
            </a:pPr>
            <a:r>
              <a:rPr lang="en-US" sz="1350" dirty="0">
                <a:solidFill>
                  <a:srgbClr val="A7ADBA"/>
                </a:solidFill>
                <a:latin typeface="Calibri" pitchFamily="34" charset="0"/>
                <a:ea typeface="Calibri" pitchFamily="34" charset="-122"/>
                <a:cs typeface="Calibri" pitchFamily="34" charset="-120"/>
              </a:rPr>
              <a:t>the model can't surface a signal the detectors don't encode — accepted, deliberately, in exchange for an insight an RM can always defend.</a:t>
            </a:r>
            <a:endParaRPr lang="en-US" sz="1350" dirty="0"/>
          </a:p>
        </p:txBody>
      </p:sp>
      <p:sp>
        <p:nvSpPr>
          <p:cNvPr id="19" name="Text 17"/>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7C8492"/>
                </a:solidFill>
                <a:latin typeface="Calibri" pitchFamily="34" charset="0"/>
                <a:ea typeface="Calibri" pitchFamily="34" charset="-122"/>
                <a:cs typeface="Calibri" pitchFamily="34" charset="-120"/>
              </a:rPr>
              <a:t>Wealth Intelligence · Julius Baer · Track #1</a:t>
            </a:r>
            <a:endParaRPr lang="en-US" sz="900" dirty="0"/>
          </a:p>
        </p:txBody>
      </p:sp>
      <p:sp>
        <p:nvSpPr>
          <p:cNvPr id="20" name="Text 18"/>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7C8492"/>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320"/>
        </a:solidFill>
      </p:bgPr>
    </p:bg>
    <p:spTree>
      <p:nvGrpSpPr>
        <p:cNvPr id="1" name=""/>
        <p:cNvGrpSpPr/>
        <p:nvPr/>
      </p:nvGrpSpPr>
      <p:grpSpPr>
        <a:xfrm>
          <a:off x="0" y="0"/>
          <a:ext cx="0" cy="0"/>
          <a:chOff x="0" y="0"/>
          <a:chExt cx="0" cy="0"/>
        </a:xfrm>
      </p:grpSpPr>
      <p:sp>
        <p:nvSpPr>
          <p:cNvPr id="2" name="Text 0"/>
          <p:cNvSpPr txBox="1"/>
          <p:nvPr/>
        </p:nvSpPr>
        <p:spPr>
          <a:xfrm>
            <a:off x="566928" y="457200"/>
            <a:ext cx="9144000" cy="274320"/>
          </a:xfrm>
          <a:prstGeom prst="rect">
            <a:avLst/>
          </a:prstGeom>
          <a:noFill/>
          <a:ln/>
        </p:spPr>
        <p:txBody>
          <a:bodyPr wrap="square" lIns="0" tIns="0" rIns="0" bIns="0" rtlCol="0" anchor="ctr"/>
          <a:lstStyle/>
          <a:p>
            <a:pPr indent="0" marL="0">
              <a:buNone/>
            </a:pPr>
            <a:r>
              <a:rPr lang="en-US" sz="1150" b="1" spc="300" kern="0" dirty="0">
                <a:solidFill>
                  <a:srgbClr val="C9A86A"/>
                </a:solidFill>
                <a:latin typeface="Calibri" pitchFamily="34" charset="0"/>
                <a:ea typeface="Calibri" pitchFamily="34" charset="-122"/>
                <a:cs typeface="Calibri" pitchFamily="34" charset="-120"/>
              </a:rPr>
              <a:t>05 · DESIGN DECISIONS &amp; TRADE-OFFS</a:t>
            </a:r>
            <a:endParaRPr lang="en-US" sz="1150" dirty="0"/>
          </a:p>
        </p:txBody>
      </p:sp>
      <p:sp>
        <p:nvSpPr>
          <p:cNvPr id="3" name="Text 1"/>
          <p:cNvSpPr txBox="1"/>
          <p:nvPr/>
        </p:nvSpPr>
        <p:spPr>
          <a:xfrm>
            <a:off x="548640" y="749808"/>
            <a:ext cx="10972800" cy="914400"/>
          </a:xfrm>
          <a:prstGeom prst="rect">
            <a:avLst/>
          </a:prstGeom>
          <a:noFill/>
          <a:ln/>
        </p:spPr>
        <p:txBody>
          <a:bodyPr wrap="square" lIns="0" tIns="0" rIns="0" bIns="0" rtlCol="0" anchor="ctr"/>
          <a:lstStyle/>
          <a:p>
            <a:pPr indent="0" marL="0">
              <a:lnSpc>
                <a:spcPts val="3360"/>
              </a:lnSpc>
              <a:buNone/>
            </a:pPr>
            <a:r>
              <a:rPr lang="en-US" sz="3200" b="1" dirty="0">
                <a:solidFill>
                  <a:srgbClr val="ECE7DD"/>
                </a:solidFill>
                <a:latin typeface="Cambria" pitchFamily="34" charset="0"/>
                <a:ea typeface="Cambria" pitchFamily="34" charset="-122"/>
                <a:cs typeface="Cambria" pitchFamily="34" charset="-120"/>
              </a:rPr>
              <a:t>Every choice made for a regulated environment</a:t>
            </a:r>
            <a:endParaRPr lang="en-US" sz="3200" dirty="0"/>
          </a:p>
        </p:txBody>
      </p:sp>
      <p:sp>
        <p:nvSpPr>
          <p:cNvPr id="4" name="Text 2"/>
          <p:cNvSpPr txBox="1"/>
          <p:nvPr/>
        </p:nvSpPr>
        <p:spPr>
          <a:xfrm>
            <a:off x="548640" y="1737360"/>
            <a:ext cx="4297680" cy="274320"/>
          </a:xfrm>
          <a:prstGeom prst="rect">
            <a:avLst/>
          </a:prstGeom>
          <a:noFill/>
          <a:ln/>
        </p:spPr>
        <p:txBody>
          <a:bodyPr wrap="square" lIns="0" tIns="0" rIns="0" bIns="0" rtlCol="0" anchor="ctr"/>
          <a:lstStyle/>
          <a:p>
            <a:pPr indent="0" marL="0">
              <a:buNone/>
            </a:pPr>
            <a:r>
              <a:rPr lang="en-US" sz="1100" b="1" spc="200" kern="0" dirty="0">
                <a:solidFill>
                  <a:srgbClr val="C9A86A"/>
                </a:solidFill>
                <a:latin typeface="Calibri" pitchFamily="34" charset="0"/>
                <a:ea typeface="Calibri" pitchFamily="34" charset="-122"/>
                <a:cs typeface="Calibri" pitchFamily="34" charset="-120"/>
              </a:rPr>
              <a:t>DECISION</a:t>
            </a:r>
            <a:endParaRPr lang="en-US" sz="1100" dirty="0"/>
          </a:p>
        </p:txBody>
      </p:sp>
      <p:sp>
        <p:nvSpPr>
          <p:cNvPr id="5" name="Text 3"/>
          <p:cNvSpPr txBox="1"/>
          <p:nvPr/>
        </p:nvSpPr>
        <p:spPr>
          <a:xfrm>
            <a:off x="4937760" y="1737360"/>
            <a:ext cx="3657600" cy="274320"/>
          </a:xfrm>
          <a:prstGeom prst="rect">
            <a:avLst/>
          </a:prstGeom>
          <a:noFill/>
          <a:ln/>
        </p:spPr>
        <p:txBody>
          <a:bodyPr wrap="square" lIns="0" tIns="0" rIns="0" bIns="0" rtlCol="0" anchor="ctr"/>
          <a:lstStyle/>
          <a:p>
            <a:pPr indent="0" marL="0">
              <a:buNone/>
            </a:pPr>
            <a:r>
              <a:rPr lang="en-US" sz="1100" b="1" spc="200" kern="0" dirty="0">
                <a:solidFill>
                  <a:srgbClr val="C9A86A"/>
                </a:solidFill>
                <a:latin typeface="Calibri" pitchFamily="34" charset="0"/>
                <a:ea typeface="Calibri" pitchFamily="34" charset="-122"/>
                <a:cs typeface="Calibri" pitchFamily="34" charset="-120"/>
              </a:rPr>
              <a:t>WHY</a:t>
            </a:r>
            <a:endParaRPr lang="en-US" sz="1100" dirty="0"/>
          </a:p>
        </p:txBody>
      </p:sp>
      <p:sp>
        <p:nvSpPr>
          <p:cNvPr id="6" name="Text 4"/>
          <p:cNvSpPr txBox="1"/>
          <p:nvPr/>
        </p:nvSpPr>
        <p:spPr>
          <a:xfrm>
            <a:off x="8686800" y="1737360"/>
            <a:ext cx="2926080" cy="274320"/>
          </a:xfrm>
          <a:prstGeom prst="rect">
            <a:avLst/>
          </a:prstGeom>
          <a:noFill/>
          <a:ln/>
        </p:spPr>
        <p:txBody>
          <a:bodyPr wrap="square" lIns="0" tIns="0" rIns="0" bIns="0" rtlCol="0" anchor="ctr"/>
          <a:lstStyle/>
          <a:p>
            <a:pPr indent="0" marL="0">
              <a:buNone/>
            </a:pPr>
            <a:r>
              <a:rPr lang="en-US" sz="1100" b="1" spc="200" kern="0" dirty="0">
                <a:solidFill>
                  <a:srgbClr val="C9A86A"/>
                </a:solidFill>
                <a:latin typeface="Calibri" pitchFamily="34" charset="0"/>
                <a:ea typeface="Calibri" pitchFamily="34" charset="-122"/>
                <a:cs typeface="Calibri" pitchFamily="34" charset="-120"/>
              </a:rPr>
              <a:t>TRADE-OFF</a:t>
            </a:r>
            <a:endParaRPr lang="en-US" sz="1100" dirty="0"/>
          </a:p>
        </p:txBody>
      </p:sp>
      <p:sp>
        <p:nvSpPr>
          <p:cNvPr id="7" name="Shape 5"/>
          <p:cNvSpPr/>
          <p:nvPr/>
        </p:nvSpPr>
        <p:spPr>
          <a:xfrm>
            <a:off x="502920" y="2075688"/>
            <a:ext cx="11155680" cy="786384"/>
          </a:xfrm>
          <a:prstGeom prst="roundRect">
            <a:avLst>
              <a:gd name="adj" fmla="val 4651"/>
            </a:avLst>
          </a:prstGeom>
          <a:solidFill>
            <a:srgbClr val="16233A"/>
          </a:solidFill>
          <a:ln/>
        </p:spPr>
      </p:sp>
      <p:sp>
        <p:nvSpPr>
          <p:cNvPr id="8" name="Text 6"/>
          <p:cNvSpPr txBox="1"/>
          <p:nvPr/>
        </p:nvSpPr>
        <p:spPr>
          <a:xfrm>
            <a:off x="640080" y="2148840"/>
            <a:ext cx="4206240" cy="731520"/>
          </a:xfrm>
          <a:prstGeom prst="rect">
            <a:avLst/>
          </a:prstGeom>
          <a:noFill/>
          <a:ln/>
        </p:spPr>
        <p:txBody>
          <a:bodyPr wrap="square" lIns="0" tIns="0" rIns="0" bIns="0" rtlCol="0" anchor="ctr"/>
          <a:lstStyle/>
          <a:p>
            <a:pPr indent="0" marL="0">
              <a:lnSpc>
                <a:spcPts val="1500"/>
              </a:lnSpc>
              <a:buNone/>
            </a:pPr>
            <a:r>
              <a:rPr lang="en-US" sz="1250" b="1" dirty="0">
                <a:solidFill>
                  <a:srgbClr val="ECE7DD"/>
                </a:solidFill>
                <a:latin typeface="Calibri" pitchFamily="34" charset="0"/>
                <a:ea typeface="Calibri" pitchFamily="34" charset="-122"/>
                <a:cs typeface="Calibri" pitchFamily="34" charset="-120"/>
              </a:rPr>
              <a:t>Deterministic engine; LLM only explains</a:t>
            </a:r>
            <a:endParaRPr lang="en-US" sz="1250" dirty="0"/>
          </a:p>
        </p:txBody>
      </p:sp>
      <p:sp>
        <p:nvSpPr>
          <p:cNvPr id="9" name="Text 7"/>
          <p:cNvSpPr txBox="1"/>
          <p:nvPr/>
        </p:nvSpPr>
        <p:spPr>
          <a:xfrm>
            <a:off x="4937760" y="2148840"/>
            <a:ext cx="3657600" cy="731520"/>
          </a:xfrm>
          <a:prstGeom prst="rect">
            <a:avLst/>
          </a:prstGeom>
          <a:noFill/>
          <a:ln/>
        </p:spPr>
        <p:txBody>
          <a:bodyPr wrap="square" lIns="0" tIns="0" rIns="0" bIns="0" rtlCol="0" anchor="ctr"/>
          <a:lstStyle/>
          <a:p>
            <a:pPr indent="0" marL="0">
              <a:lnSpc>
                <a:spcPts val="1500"/>
              </a:lnSpc>
              <a:buNone/>
            </a:pPr>
            <a:r>
              <a:rPr lang="en-US" sz="1200" dirty="0">
                <a:solidFill>
                  <a:srgbClr val="A7ADBA"/>
                </a:solidFill>
                <a:latin typeface="Calibri" pitchFamily="34" charset="0"/>
                <a:ea typeface="Calibri" pitchFamily="34" charset="-122"/>
                <a:cs typeface="Calibri" pitchFamily="34" charset="-120"/>
              </a:rPr>
              <a:t>Every insight is defensible in a compliance review.</a:t>
            </a:r>
            <a:endParaRPr lang="en-US" sz="1200" dirty="0"/>
          </a:p>
        </p:txBody>
      </p:sp>
      <p:sp>
        <p:nvSpPr>
          <p:cNvPr id="10" name="Text 8"/>
          <p:cNvSpPr txBox="1"/>
          <p:nvPr/>
        </p:nvSpPr>
        <p:spPr>
          <a:xfrm>
            <a:off x="8686800" y="2148840"/>
            <a:ext cx="3017520" cy="731520"/>
          </a:xfrm>
          <a:prstGeom prst="rect">
            <a:avLst/>
          </a:prstGeom>
          <a:noFill/>
          <a:ln/>
        </p:spPr>
        <p:txBody>
          <a:bodyPr wrap="square" lIns="0" tIns="0" rIns="0" bIns="0" rtlCol="0" anchor="ctr"/>
          <a:lstStyle/>
          <a:p>
            <a:pPr indent="0" marL="0">
              <a:lnSpc>
                <a:spcPts val="1500"/>
              </a:lnSpc>
              <a:buNone/>
            </a:pPr>
            <a:r>
              <a:rPr lang="en-US" sz="1150" i="1" dirty="0">
                <a:solidFill>
                  <a:srgbClr val="7C8492"/>
                </a:solidFill>
                <a:latin typeface="Calibri" pitchFamily="34" charset="0"/>
                <a:ea typeface="Calibri" pitchFamily="34" charset="-122"/>
                <a:cs typeface="Calibri" pitchFamily="34" charset="-120"/>
              </a:rPr>
              <a:t>An extra layer; the model can't surface an un-coded signal.</a:t>
            </a:r>
            <a:endParaRPr lang="en-US" sz="1150" dirty="0"/>
          </a:p>
        </p:txBody>
      </p:sp>
      <p:sp>
        <p:nvSpPr>
          <p:cNvPr id="11" name="Text 9"/>
          <p:cNvSpPr txBox="1"/>
          <p:nvPr/>
        </p:nvSpPr>
        <p:spPr>
          <a:xfrm>
            <a:off x="640080" y="2990088"/>
            <a:ext cx="4206240" cy="731520"/>
          </a:xfrm>
          <a:prstGeom prst="rect">
            <a:avLst/>
          </a:prstGeom>
          <a:noFill/>
          <a:ln/>
        </p:spPr>
        <p:txBody>
          <a:bodyPr wrap="square" lIns="0" tIns="0" rIns="0" bIns="0" rtlCol="0" anchor="ctr"/>
          <a:lstStyle/>
          <a:p>
            <a:pPr indent="0" marL="0">
              <a:lnSpc>
                <a:spcPts val="1500"/>
              </a:lnSpc>
              <a:buNone/>
            </a:pPr>
            <a:r>
              <a:rPr lang="en-US" sz="1250" b="1" dirty="0">
                <a:solidFill>
                  <a:srgbClr val="ECE7DD"/>
                </a:solidFill>
                <a:latin typeface="Calibri" pitchFamily="34" charset="0"/>
                <a:ea typeface="Calibri" pitchFamily="34" charset="-122"/>
                <a:cs typeface="Calibri" pitchFamily="34" charset="-120"/>
              </a:rPr>
              <a:t>Pure standard-library core (no pandas)</a:t>
            </a:r>
            <a:endParaRPr lang="en-US" sz="1250" dirty="0"/>
          </a:p>
        </p:txBody>
      </p:sp>
      <p:sp>
        <p:nvSpPr>
          <p:cNvPr id="12" name="Text 10"/>
          <p:cNvSpPr txBox="1"/>
          <p:nvPr/>
        </p:nvSpPr>
        <p:spPr>
          <a:xfrm>
            <a:off x="4937760" y="2990088"/>
            <a:ext cx="3657600" cy="731520"/>
          </a:xfrm>
          <a:prstGeom prst="rect">
            <a:avLst/>
          </a:prstGeom>
          <a:noFill/>
          <a:ln/>
        </p:spPr>
        <p:txBody>
          <a:bodyPr wrap="square" lIns="0" tIns="0" rIns="0" bIns="0" rtlCol="0" anchor="ctr"/>
          <a:lstStyle/>
          <a:p>
            <a:pPr indent="0" marL="0">
              <a:lnSpc>
                <a:spcPts val="1500"/>
              </a:lnSpc>
              <a:buNone/>
            </a:pPr>
            <a:r>
              <a:rPr lang="en-US" sz="1200" dirty="0">
                <a:solidFill>
                  <a:srgbClr val="A7ADBA"/>
                </a:solidFill>
                <a:latin typeface="Calibri" pitchFamily="34" charset="0"/>
                <a:ea typeface="Calibri" pitchFamily="34" charset="-122"/>
                <a:cs typeface="Calibri" pitchFamily="34" charset="-120"/>
              </a:rPr>
              <a:t>Runs anywhere a bank permits Python; trivial to audit.</a:t>
            </a:r>
            <a:endParaRPr lang="en-US" sz="1200" dirty="0"/>
          </a:p>
        </p:txBody>
      </p:sp>
      <p:sp>
        <p:nvSpPr>
          <p:cNvPr id="13" name="Text 11"/>
          <p:cNvSpPr txBox="1"/>
          <p:nvPr/>
        </p:nvSpPr>
        <p:spPr>
          <a:xfrm>
            <a:off x="8686800" y="2990088"/>
            <a:ext cx="3017520" cy="731520"/>
          </a:xfrm>
          <a:prstGeom prst="rect">
            <a:avLst/>
          </a:prstGeom>
          <a:noFill/>
          <a:ln/>
        </p:spPr>
        <p:txBody>
          <a:bodyPr wrap="square" lIns="0" tIns="0" rIns="0" bIns="0" rtlCol="0" anchor="ctr"/>
          <a:lstStyle/>
          <a:p>
            <a:pPr indent="0" marL="0">
              <a:lnSpc>
                <a:spcPts val="1500"/>
              </a:lnSpc>
              <a:buNone/>
            </a:pPr>
            <a:r>
              <a:rPr lang="en-US" sz="1150" i="1" dirty="0">
                <a:solidFill>
                  <a:srgbClr val="7C8492"/>
                </a:solidFill>
                <a:latin typeface="Calibri" pitchFamily="34" charset="0"/>
                <a:ea typeface="Calibri" pitchFamily="34" charset="-122"/>
                <a:cs typeface="Calibri" pitchFamily="34" charset="-120"/>
              </a:rPr>
              <a:t>A little CSV &amp; FX plumbing written by hand.</a:t>
            </a:r>
            <a:endParaRPr lang="en-US" sz="1150" dirty="0"/>
          </a:p>
        </p:txBody>
      </p:sp>
      <p:sp>
        <p:nvSpPr>
          <p:cNvPr id="14" name="Shape 12"/>
          <p:cNvSpPr/>
          <p:nvPr/>
        </p:nvSpPr>
        <p:spPr>
          <a:xfrm>
            <a:off x="502920" y="3758184"/>
            <a:ext cx="11155680" cy="786384"/>
          </a:xfrm>
          <a:prstGeom prst="roundRect">
            <a:avLst>
              <a:gd name="adj" fmla="val 4651"/>
            </a:avLst>
          </a:prstGeom>
          <a:solidFill>
            <a:srgbClr val="16233A"/>
          </a:solidFill>
          <a:ln/>
        </p:spPr>
      </p:sp>
      <p:sp>
        <p:nvSpPr>
          <p:cNvPr id="15" name="Text 13"/>
          <p:cNvSpPr txBox="1"/>
          <p:nvPr/>
        </p:nvSpPr>
        <p:spPr>
          <a:xfrm>
            <a:off x="640080" y="3831336"/>
            <a:ext cx="4206240" cy="731520"/>
          </a:xfrm>
          <a:prstGeom prst="rect">
            <a:avLst/>
          </a:prstGeom>
          <a:noFill/>
          <a:ln/>
        </p:spPr>
        <p:txBody>
          <a:bodyPr wrap="square" lIns="0" tIns="0" rIns="0" bIns="0" rtlCol="0" anchor="ctr"/>
          <a:lstStyle/>
          <a:p>
            <a:pPr indent="0" marL="0">
              <a:lnSpc>
                <a:spcPts val="1500"/>
              </a:lnSpc>
              <a:buNone/>
            </a:pPr>
            <a:r>
              <a:rPr lang="en-US" sz="1250" b="1" dirty="0">
                <a:solidFill>
                  <a:srgbClr val="ECE7DD"/>
                </a:solidFill>
                <a:latin typeface="Calibri" pitchFamily="34" charset="0"/>
                <a:ea typeface="Calibri" pitchFamily="34" charset="-122"/>
                <a:cs typeface="Calibri" pitchFamily="34" charset="-120"/>
              </a:rPr>
              <a:t>Explicit, auditable look-through table</a:t>
            </a:r>
            <a:endParaRPr lang="en-US" sz="1250" dirty="0"/>
          </a:p>
        </p:txBody>
      </p:sp>
      <p:sp>
        <p:nvSpPr>
          <p:cNvPr id="16" name="Text 14"/>
          <p:cNvSpPr txBox="1"/>
          <p:nvPr/>
        </p:nvSpPr>
        <p:spPr>
          <a:xfrm>
            <a:off x="4937760" y="3831336"/>
            <a:ext cx="3657600" cy="731520"/>
          </a:xfrm>
          <a:prstGeom prst="rect">
            <a:avLst/>
          </a:prstGeom>
          <a:noFill/>
          <a:ln/>
        </p:spPr>
        <p:txBody>
          <a:bodyPr wrap="square" lIns="0" tIns="0" rIns="0" bIns="0" rtlCol="0" anchor="ctr"/>
          <a:lstStyle/>
          <a:p>
            <a:pPr indent="0" marL="0">
              <a:lnSpc>
                <a:spcPts val="1500"/>
              </a:lnSpc>
              <a:buNone/>
            </a:pPr>
            <a:r>
              <a:rPr lang="en-US" sz="1200" dirty="0">
                <a:solidFill>
                  <a:srgbClr val="A7ADBA"/>
                </a:solidFill>
                <a:latin typeface="Calibri" pitchFamily="34" charset="0"/>
                <a:ea typeface="Calibri" pitchFamily="34" charset="-122"/>
                <a:cs typeface="Calibri" pitchFamily="34" charset="-120"/>
              </a:rPr>
              <a:t>No free-association about what a note references.</a:t>
            </a:r>
            <a:endParaRPr lang="en-US" sz="1200" dirty="0"/>
          </a:p>
        </p:txBody>
      </p:sp>
      <p:sp>
        <p:nvSpPr>
          <p:cNvPr id="17" name="Text 15"/>
          <p:cNvSpPr txBox="1"/>
          <p:nvPr/>
        </p:nvSpPr>
        <p:spPr>
          <a:xfrm>
            <a:off x="8686800" y="3831336"/>
            <a:ext cx="3017520" cy="731520"/>
          </a:xfrm>
          <a:prstGeom prst="rect">
            <a:avLst/>
          </a:prstGeom>
          <a:noFill/>
          <a:ln/>
        </p:spPr>
        <p:txBody>
          <a:bodyPr wrap="square" lIns="0" tIns="0" rIns="0" bIns="0" rtlCol="0" anchor="ctr"/>
          <a:lstStyle/>
          <a:p>
            <a:pPr indent="0" marL="0">
              <a:lnSpc>
                <a:spcPts val="1500"/>
              </a:lnSpc>
              <a:buNone/>
            </a:pPr>
            <a:r>
              <a:rPr lang="en-US" sz="1150" i="1" dirty="0">
                <a:solidFill>
                  <a:srgbClr val="7C8492"/>
                </a:solidFill>
                <a:latin typeface="Calibri" pitchFamily="34" charset="0"/>
                <a:ea typeface="Calibri" pitchFamily="34" charset="-122"/>
                <a:cs typeface="Calibri" pitchFamily="34" charset="-120"/>
              </a:rPr>
              <a:t>A curated map to maintain as instruments change.</a:t>
            </a:r>
            <a:endParaRPr lang="en-US" sz="1150" dirty="0"/>
          </a:p>
        </p:txBody>
      </p:sp>
      <p:sp>
        <p:nvSpPr>
          <p:cNvPr id="18" name="Text 16"/>
          <p:cNvSpPr txBox="1"/>
          <p:nvPr/>
        </p:nvSpPr>
        <p:spPr>
          <a:xfrm>
            <a:off x="640080" y="4672584"/>
            <a:ext cx="4206240" cy="731520"/>
          </a:xfrm>
          <a:prstGeom prst="rect">
            <a:avLst/>
          </a:prstGeom>
          <a:noFill/>
          <a:ln/>
        </p:spPr>
        <p:txBody>
          <a:bodyPr wrap="square" lIns="0" tIns="0" rIns="0" bIns="0" rtlCol="0" anchor="ctr"/>
          <a:lstStyle/>
          <a:p>
            <a:pPr indent="0" marL="0">
              <a:lnSpc>
                <a:spcPts val="1500"/>
              </a:lnSpc>
              <a:buNone/>
            </a:pPr>
            <a:r>
              <a:rPr lang="en-US" sz="1250" b="1" dirty="0">
                <a:solidFill>
                  <a:srgbClr val="ECE7DD"/>
                </a:solidFill>
                <a:latin typeface="Calibri" pitchFamily="34" charset="0"/>
                <a:ea typeface="Calibri" pitchFamily="34" charset="-122"/>
                <a:cs typeface="Calibri" pitchFamily="34" charset="-120"/>
              </a:rPr>
              <a:t>Explanations cached + offline fallback</a:t>
            </a:r>
            <a:endParaRPr lang="en-US" sz="1250" dirty="0"/>
          </a:p>
        </p:txBody>
      </p:sp>
      <p:sp>
        <p:nvSpPr>
          <p:cNvPr id="19" name="Text 17"/>
          <p:cNvSpPr txBox="1"/>
          <p:nvPr/>
        </p:nvSpPr>
        <p:spPr>
          <a:xfrm>
            <a:off x="4937760" y="4672584"/>
            <a:ext cx="3657600" cy="731520"/>
          </a:xfrm>
          <a:prstGeom prst="rect">
            <a:avLst/>
          </a:prstGeom>
          <a:noFill/>
          <a:ln/>
        </p:spPr>
        <p:txBody>
          <a:bodyPr wrap="square" lIns="0" tIns="0" rIns="0" bIns="0" rtlCol="0" anchor="ctr"/>
          <a:lstStyle/>
          <a:p>
            <a:pPr indent="0" marL="0">
              <a:lnSpc>
                <a:spcPts val="1500"/>
              </a:lnSpc>
              <a:buNone/>
            </a:pPr>
            <a:r>
              <a:rPr lang="en-US" sz="1200" dirty="0">
                <a:solidFill>
                  <a:srgbClr val="A7ADBA"/>
                </a:solidFill>
                <a:latin typeface="Calibri" pitchFamily="34" charset="0"/>
                <a:ea typeface="Calibri" pitchFamily="34" charset="-122"/>
                <a:cs typeface="Calibri" pitchFamily="34" charset="-120"/>
              </a:rPr>
              <a:t>A live demo never depends on the network.</a:t>
            </a:r>
            <a:endParaRPr lang="en-US" sz="1200" dirty="0"/>
          </a:p>
        </p:txBody>
      </p:sp>
      <p:sp>
        <p:nvSpPr>
          <p:cNvPr id="20" name="Text 18"/>
          <p:cNvSpPr txBox="1"/>
          <p:nvPr/>
        </p:nvSpPr>
        <p:spPr>
          <a:xfrm>
            <a:off x="8686800" y="4672584"/>
            <a:ext cx="3017520" cy="731520"/>
          </a:xfrm>
          <a:prstGeom prst="rect">
            <a:avLst/>
          </a:prstGeom>
          <a:noFill/>
          <a:ln/>
        </p:spPr>
        <p:txBody>
          <a:bodyPr wrap="square" lIns="0" tIns="0" rIns="0" bIns="0" rtlCol="0" anchor="ctr"/>
          <a:lstStyle/>
          <a:p>
            <a:pPr indent="0" marL="0">
              <a:lnSpc>
                <a:spcPts val="1500"/>
              </a:lnSpc>
              <a:buNone/>
            </a:pPr>
            <a:r>
              <a:rPr lang="en-US" sz="1150" i="1" dirty="0">
                <a:solidFill>
                  <a:srgbClr val="7C8492"/>
                </a:solidFill>
                <a:latin typeface="Calibri" pitchFamily="34" charset="0"/>
                <a:ea typeface="Calibri" pitchFamily="34" charset="-122"/>
                <a:cs typeface="Calibri" pitchFamily="34" charset="-120"/>
              </a:rPr>
              <a:t>Cached text keyed by input hash to stay fresh.</a:t>
            </a:r>
            <a:endParaRPr lang="en-US" sz="1150" dirty="0"/>
          </a:p>
        </p:txBody>
      </p:sp>
      <p:sp>
        <p:nvSpPr>
          <p:cNvPr id="21" name="Shape 19"/>
          <p:cNvSpPr/>
          <p:nvPr/>
        </p:nvSpPr>
        <p:spPr>
          <a:xfrm>
            <a:off x="502920" y="5440680"/>
            <a:ext cx="11155680" cy="786384"/>
          </a:xfrm>
          <a:prstGeom prst="roundRect">
            <a:avLst>
              <a:gd name="adj" fmla="val 4651"/>
            </a:avLst>
          </a:prstGeom>
          <a:solidFill>
            <a:srgbClr val="16233A"/>
          </a:solidFill>
          <a:ln/>
        </p:spPr>
      </p:sp>
      <p:sp>
        <p:nvSpPr>
          <p:cNvPr id="22" name="Text 20"/>
          <p:cNvSpPr txBox="1"/>
          <p:nvPr/>
        </p:nvSpPr>
        <p:spPr>
          <a:xfrm>
            <a:off x="640080" y="5513832"/>
            <a:ext cx="4206240" cy="731520"/>
          </a:xfrm>
          <a:prstGeom prst="rect">
            <a:avLst/>
          </a:prstGeom>
          <a:noFill/>
          <a:ln/>
        </p:spPr>
        <p:txBody>
          <a:bodyPr wrap="square" lIns="0" tIns="0" rIns="0" bIns="0" rtlCol="0" anchor="ctr"/>
          <a:lstStyle/>
          <a:p>
            <a:pPr indent="0" marL="0">
              <a:lnSpc>
                <a:spcPts val="1500"/>
              </a:lnSpc>
              <a:buNone/>
            </a:pPr>
            <a:r>
              <a:rPr lang="en-US" sz="1250" b="1" dirty="0">
                <a:solidFill>
                  <a:srgbClr val="ECE7DD"/>
                </a:solidFill>
                <a:latin typeface="Calibri" pitchFamily="34" charset="0"/>
                <a:ea typeface="Calibri" pitchFamily="34" charset="-122"/>
                <a:cs typeface="Calibri" pitchFamily="34" charset="-120"/>
              </a:rPr>
              <a:t>Evidence + facts on every finding</a:t>
            </a:r>
            <a:endParaRPr lang="en-US" sz="1250" dirty="0"/>
          </a:p>
        </p:txBody>
      </p:sp>
      <p:sp>
        <p:nvSpPr>
          <p:cNvPr id="23" name="Text 21"/>
          <p:cNvSpPr txBox="1"/>
          <p:nvPr/>
        </p:nvSpPr>
        <p:spPr>
          <a:xfrm>
            <a:off x="4937760" y="5513832"/>
            <a:ext cx="3657600" cy="731520"/>
          </a:xfrm>
          <a:prstGeom prst="rect">
            <a:avLst/>
          </a:prstGeom>
          <a:noFill/>
          <a:ln/>
        </p:spPr>
        <p:txBody>
          <a:bodyPr wrap="square" lIns="0" tIns="0" rIns="0" bIns="0" rtlCol="0" anchor="ctr"/>
          <a:lstStyle/>
          <a:p>
            <a:pPr indent="0" marL="0">
              <a:lnSpc>
                <a:spcPts val="1500"/>
              </a:lnSpc>
              <a:buNone/>
            </a:pPr>
            <a:r>
              <a:rPr lang="en-US" sz="1200" dirty="0">
                <a:solidFill>
                  <a:srgbClr val="A7ADBA"/>
                </a:solidFill>
                <a:latin typeface="Calibri" pitchFamily="34" charset="0"/>
                <a:ea typeface="Calibri" pitchFamily="34" charset="-122"/>
                <a:cs typeface="Calibri" pitchFamily="34" charset="-120"/>
              </a:rPr>
              <a:t>Full traceability from insight back to source rows.</a:t>
            </a:r>
            <a:endParaRPr lang="en-US" sz="1200" dirty="0"/>
          </a:p>
        </p:txBody>
      </p:sp>
      <p:sp>
        <p:nvSpPr>
          <p:cNvPr id="24" name="Text 22"/>
          <p:cNvSpPr txBox="1"/>
          <p:nvPr/>
        </p:nvSpPr>
        <p:spPr>
          <a:xfrm>
            <a:off x="8686800" y="5513832"/>
            <a:ext cx="3017520" cy="731520"/>
          </a:xfrm>
          <a:prstGeom prst="rect">
            <a:avLst/>
          </a:prstGeom>
          <a:noFill/>
          <a:ln/>
        </p:spPr>
        <p:txBody>
          <a:bodyPr wrap="square" lIns="0" tIns="0" rIns="0" bIns="0" rtlCol="0" anchor="ctr"/>
          <a:lstStyle/>
          <a:p>
            <a:pPr indent="0" marL="0">
              <a:lnSpc>
                <a:spcPts val="1500"/>
              </a:lnSpc>
              <a:buNone/>
            </a:pPr>
            <a:r>
              <a:rPr lang="en-US" sz="1150" i="1" dirty="0">
                <a:solidFill>
                  <a:srgbClr val="7C8492"/>
                </a:solidFill>
                <a:latin typeface="Calibri" pitchFamily="34" charset="0"/>
                <a:ea typeface="Calibri" pitchFamily="34" charset="-122"/>
                <a:cs typeface="Calibri" pitchFamily="34" charset="-120"/>
              </a:rPr>
              <a:t>Slightly more verbose findings.</a:t>
            </a:r>
            <a:endParaRPr lang="en-US" sz="1150" dirty="0"/>
          </a:p>
        </p:txBody>
      </p:sp>
      <p:sp>
        <p:nvSpPr>
          <p:cNvPr id="25" name="Text 2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7C8492"/>
                </a:solidFill>
                <a:latin typeface="Calibri" pitchFamily="34" charset="0"/>
                <a:ea typeface="Calibri" pitchFamily="34" charset="-122"/>
                <a:cs typeface="Calibri" pitchFamily="34" charset="-120"/>
              </a:rPr>
              <a:t>Wealth Intelligence · Julius Baer · Track #1</a:t>
            </a:r>
            <a:endParaRPr lang="en-US" sz="900" dirty="0"/>
          </a:p>
        </p:txBody>
      </p:sp>
      <p:sp>
        <p:nvSpPr>
          <p:cNvPr id="26" name="Text 24"/>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7C8492"/>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320"/>
        </a:solidFill>
      </p:bgPr>
    </p:bg>
    <p:spTree>
      <p:nvGrpSpPr>
        <p:cNvPr id="1" name=""/>
        <p:cNvGrpSpPr/>
        <p:nvPr/>
      </p:nvGrpSpPr>
      <p:grpSpPr>
        <a:xfrm>
          <a:off x="0" y="0"/>
          <a:ext cx="0" cy="0"/>
          <a:chOff x="0" y="0"/>
          <a:chExt cx="0" cy="0"/>
        </a:xfrm>
      </p:grpSpPr>
      <p:sp>
        <p:nvSpPr>
          <p:cNvPr id="2" name="Text 0"/>
          <p:cNvSpPr txBox="1"/>
          <p:nvPr/>
        </p:nvSpPr>
        <p:spPr>
          <a:xfrm>
            <a:off x="566928" y="457200"/>
            <a:ext cx="9144000" cy="274320"/>
          </a:xfrm>
          <a:prstGeom prst="rect">
            <a:avLst/>
          </a:prstGeom>
          <a:noFill/>
          <a:ln/>
        </p:spPr>
        <p:txBody>
          <a:bodyPr wrap="square" lIns="0" tIns="0" rIns="0" bIns="0" rtlCol="0" anchor="ctr"/>
          <a:lstStyle/>
          <a:p>
            <a:pPr indent="0" marL="0">
              <a:buNone/>
            </a:pPr>
            <a:r>
              <a:rPr lang="en-US" sz="1150" b="1" spc="300" kern="0" dirty="0">
                <a:solidFill>
                  <a:srgbClr val="C9A86A"/>
                </a:solidFill>
                <a:latin typeface="Calibri" pitchFamily="34" charset="0"/>
                <a:ea typeface="Calibri" pitchFamily="34" charset="-122"/>
                <a:cs typeface="Calibri" pitchFamily="34" charset="-120"/>
              </a:rPr>
              <a:t>06 · WHY IT UNIQUELY FITS THE CHALLENGE</a:t>
            </a:r>
            <a:endParaRPr lang="en-US" sz="1150" dirty="0"/>
          </a:p>
        </p:txBody>
      </p:sp>
      <p:sp>
        <p:nvSpPr>
          <p:cNvPr id="3" name="Text 1"/>
          <p:cNvSpPr txBox="1"/>
          <p:nvPr/>
        </p:nvSpPr>
        <p:spPr>
          <a:xfrm>
            <a:off x="548640" y="749808"/>
            <a:ext cx="10972800" cy="914400"/>
          </a:xfrm>
          <a:prstGeom prst="rect">
            <a:avLst/>
          </a:prstGeom>
          <a:noFill/>
          <a:ln/>
        </p:spPr>
        <p:txBody>
          <a:bodyPr wrap="square" lIns="0" tIns="0" rIns="0" bIns="0" rtlCol="0" anchor="ctr"/>
          <a:lstStyle/>
          <a:p>
            <a:pPr indent="0" marL="0">
              <a:lnSpc>
                <a:spcPts val="3360"/>
              </a:lnSpc>
              <a:buNone/>
            </a:pPr>
            <a:r>
              <a:rPr lang="en-US" sz="3200" b="1" dirty="0">
                <a:solidFill>
                  <a:srgbClr val="ECE7DD"/>
                </a:solidFill>
                <a:latin typeface="Cambria" pitchFamily="34" charset="0"/>
                <a:ea typeface="Cambria" pitchFamily="34" charset="-122"/>
                <a:cs typeface="Cambria" pitchFamily="34" charset="-120"/>
              </a:rPr>
              <a:t>Advisory, not descriptive — and defensible to the client</a:t>
            </a:r>
            <a:endParaRPr lang="en-US" sz="3200" dirty="0"/>
          </a:p>
        </p:txBody>
      </p:sp>
      <p:sp>
        <p:nvSpPr>
          <p:cNvPr id="4" name="Shape 2"/>
          <p:cNvSpPr/>
          <p:nvPr/>
        </p:nvSpPr>
        <p:spPr>
          <a:xfrm>
            <a:off x="548640" y="1874520"/>
            <a:ext cx="365760" cy="365760"/>
          </a:xfrm>
          <a:prstGeom prst="roundRect">
            <a:avLst>
              <a:gd name="adj" fmla="val 12500"/>
            </a:avLst>
          </a:prstGeom>
          <a:solidFill>
            <a:srgbClr val="C9A86A"/>
          </a:solidFill>
          <a:ln/>
        </p:spPr>
      </p:sp>
      <p:sp>
        <p:nvSpPr>
          <p:cNvPr id="5" name="Text 3"/>
          <p:cNvSpPr txBox="1"/>
          <p:nvPr/>
        </p:nvSpPr>
        <p:spPr>
          <a:xfrm>
            <a:off x="548640" y="1874520"/>
            <a:ext cx="365760" cy="365760"/>
          </a:xfrm>
          <a:prstGeom prst="rect">
            <a:avLst/>
          </a:prstGeom>
          <a:noFill/>
          <a:ln/>
        </p:spPr>
        <p:txBody>
          <a:bodyPr wrap="square" lIns="0" tIns="0" rIns="0" bIns="0" rtlCol="0" anchor="ctr"/>
          <a:lstStyle/>
          <a:p>
            <a:pPr algn="ctr" indent="0" marL="0">
              <a:buNone/>
            </a:pPr>
            <a:r>
              <a:rPr lang="en-US" sz="1300" b="1" dirty="0">
                <a:solidFill>
                  <a:srgbClr val="0C1320"/>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97280" y="1856232"/>
            <a:ext cx="5760720" cy="365760"/>
          </a:xfrm>
          <a:prstGeom prst="rect">
            <a:avLst/>
          </a:prstGeom>
          <a:noFill/>
          <a:ln/>
        </p:spPr>
        <p:txBody>
          <a:bodyPr wrap="square" lIns="0" tIns="0" rIns="0" bIns="0" rtlCol="0" anchor="ctr"/>
          <a:lstStyle/>
          <a:p>
            <a:pPr indent="0" marL="0">
              <a:buNone/>
            </a:pPr>
            <a:r>
              <a:rPr lang="en-US" sz="1650" b="1" dirty="0">
                <a:solidFill>
                  <a:srgbClr val="ECE7DD"/>
                </a:solidFill>
                <a:latin typeface="Cambria" pitchFamily="34" charset="0"/>
                <a:ea typeface="Cambria" pitchFamily="34" charset="-122"/>
                <a:cs typeface="Cambria" pitchFamily="34" charset="-120"/>
              </a:rPr>
              <a:t>Prioritises the whole book</a:t>
            </a:r>
            <a:endParaRPr lang="en-US" sz="1650" dirty="0"/>
          </a:p>
        </p:txBody>
      </p:sp>
      <p:sp>
        <p:nvSpPr>
          <p:cNvPr id="7" name="Text 5"/>
          <p:cNvSpPr txBox="1"/>
          <p:nvPr/>
        </p:nvSpPr>
        <p:spPr>
          <a:xfrm>
            <a:off x="1097280" y="2240280"/>
            <a:ext cx="5852160" cy="640080"/>
          </a:xfrm>
          <a:prstGeom prst="rect">
            <a:avLst/>
          </a:prstGeom>
          <a:noFill/>
          <a:ln/>
        </p:spPr>
        <p:txBody>
          <a:bodyPr wrap="square" lIns="0" tIns="0" rIns="0" bIns="0" rtlCol="0" anchor="ctr"/>
          <a:lstStyle/>
          <a:p>
            <a:pPr indent="0" marL="0">
              <a:lnSpc>
                <a:spcPts val="1700"/>
              </a:lnSpc>
              <a:buNone/>
            </a:pPr>
            <a:r>
              <a:rPr lang="en-US" sz="1250" dirty="0">
                <a:solidFill>
                  <a:srgbClr val="A7ADBA"/>
                </a:solidFill>
                <a:latin typeface="Calibri" pitchFamily="34" charset="0"/>
                <a:ea typeface="Calibri" pitchFamily="34" charset="-122"/>
                <a:cs typeface="Calibri" pitchFamily="34" charset="-120"/>
              </a:rPr>
              <a:t>'Who do I call first, and can I defend the ranking?' — the challenge's own question, answered.</a:t>
            </a:r>
            <a:endParaRPr lang="en-US" sz="1250" dirty="0"/>
          </a:p>
        </p:txBody>
      </p:sp>
      <p:sp>
        <p:nvSpPr>
          <p:cNvPr id="8" name="Shape 6"/>
          <p:cNvSpPr/>
          <p:nvPr/>
        </p:nvSpPr>
        <p:spPr>
          <a:xfrm>
            <a:off x="548640" y="2926080"/>
            <a:ext cx="365760" cy="365760"/>
          </a:xfrm>
          <a:prstGeom prst="roundRect">
            <a:avLst>
              <a:gd name="adj" fmla="val 12500"/>
            </a:avLst>
          </a:prstGeom>
          <a:solidFill>
            <a:srgbClr val="C9A86A"/>
          </a:solidFill>
          <a:ln/>
        </p:spPr>
      </p:sp>
      <p:sp>
        <p:nvSpPr>
          <p:cNvPr id="9" name="Text 7"/>
          <p:cNvSpPr txBox="1"/>
          <p:nvPr/>
        </p:nvSpPr>
        <p:spPr>
          <a:xfrm>
            <a:off x="548640" y="2926080"/>
            <a:ext cx="365760" cy="365760"/>
          </a:xfrm>
          <a:prstGeom prst="rect">
            <a:avLst/>
          </a:prstGeom>
          <a:noFill/>
          <a:ln/>
        </p:spPr>
        <p:txBody>
          <a:bodyPr wrap="square" lIns="0" tIns="0" rIns="0" bIns="0" rtlCol="0" anchor="ctr"/>
          <a:lstStyle/>
          <a:p>
            <a:pPr algn="ctr" indent="0" marL="0">
              <a:buNone/>
            </a:pPr>
            <a:r>
              <a:rPr lang="en-US" sz="1300" b="1" dirty="0">
                <a:solidFill>
                  <a:srgbClr val="0C1320"/>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97280" y="2907792"/>
            <a:ext cx="5760720" cy="365760"/>
          </a:xfrm>
          <a:prstGeom prst="rect">
            <a:avLst/>
          </a:prstGeom>
          <a:noFill/>
          <a:ln/>
        </p:spPr>
        <p:txBody>
          <a:bodyPr wrap="square" lIns="0" tIns="0" rIns="0" bIns="0" rtlCol="0" anchor="ctr"/>
          <a:lstStyle/>
          <a:p>
            <a:pPr indent="0" marL="0">
              <a:buNone/>
            </a:pPr>
            <a:r>
              <a:rPr lang="en-US" sz="1650" b="1" dirty="0">
                <a:solidFill>
                  <a:srgbClr val="ECE7DD"/>
                </a:solidFill>
                <a:latin typeface="Cambria" pitchFamily="34" charset="0"/>
                <a:ea typeface="Cambria" pitchFamily="34" charset="-122"/>
                <a:cs typeface="Cambria" pitchFamily="34" charset="-120"/>
              </a:rPr>
              <a:t>Every insight is defensible</a:t>
            </a:r>
            <a:endParaRPr lang="en-US" sz="1650" dirty="0"/>
          </a:p>
        </p:txBody>
      </p:sp>
      <p:sp>
        <p:nvSpPr>
          <p:cNvPr id="11" name="Text 9"/>
          <p:cNvSpPr txBox="1"/>
          <p:nvPr/>
        </p:nvSpPr>
        <p:spPr>
          <a:xfrm>
            <a:off x="1097280" y="3291840"/>
            <a:ext cx="5852160" cy="640080"/>
          </a:xfrm>
          <a:prstGeom prst="rect">
            <a:avLst/>
          </a:prstGeom>
          <a:noFill/>
          <a:ln/>
        </p:spPr>
        <p:txBody>
          <a:bodyPr wrap="square" lIns="0" tIns="0" rIns="0" bIns="0" rtlCol="0" anchor="ctr"/>
          <a:lstStyle/>
          <a:p>
            <a:pPr indent="0" marL="0">
              <a:lnSpc>
                <a:spcPts val="1700"/>
              </a:lnSpc>
              <a:buNone/>
            </a:pPr>
            <a:r>
              <a:rPr lang="en-US" sz="1250" dirty="0">
                <a:solidFill>
                  <a:srgbClr val="A7ADBA"/>
                </a:solidFill>
                <a:latin typeface="Calibri" pitchFamily="34" charset="0"/>
                <a:ea typeface="Calibri" pitchFamily="34" charset="-122"/>
                <a:cs typeface="Calibri" pitchFamily="34" charset="-120"/>
              </a:rPr>
              <a:t>Grounded in the files and the authoritative event log — an RM can explain it in a meeting.</a:t>
            </a:r>
            <a:endParaRPr lang="en-US" sz="1250" dirty="0"/>
          </a:p>
        </p:txBody>
      </p:sp>
      <p:sp>
        <p:nvSpPr>
          <p:cNvPr id="12" name="Shape 10"/>
          <p:cNvSpPr/>
          <p:nvPr/>
        </p:nvSpPr>
        <p:spPr>
          <a:xfrm>
            <a:off x="548640" y="3977640"/>
            <a:ext cx="365760" cy="365760"/>
          </a:xfrm>
          <a:prstGeom prst="roundRect">
            <a:avLst>
              <a:gd name="adj" fmla="val 12500"/>
            </a:avLst>
          </a:prstGeom>
          <a:solidFill>
            <a:srgbClr val="C9A86A"/>
          </a:solidFill>
          <a:ln/>
        </p:spPr>
      </p:sp>
      <p:sp>
        <p:nvSpPr>
          <p:cNvPr id="13" name="Text 11"/>
          <p:cNvSpPr txBox="1"/>
          <p:nvPr/>
        </p:nvSpPr>
        <p:spPr>
          <a:xfrm>
            <a:off x="548640" y="3977640"/>
            <a:ext cx="365760" cy="365760"/>
          </a:xfrm>
          <a:prstGeom prst="rect">
            <a:avLst/>
          </a:prstGeom>
          <a:noFill/>
          <a:ln/>
        </p:spPr>
        <p:txBody>
          <a:bodyPr wrap="square" lIns="0" tIns="0" rIns="0" bIns="0" rtlCol="0" anchor="ctr"/>
          <a:lstStyle/>
          <a:p>
            <a:pPr algn="ctr" indent="0" marL="0">
              <a:buNone/>
            </a:pPr>
            <a:r>
              <a:rPr lang="en-US" sz="1300" b="1" dirty="0">
                <a:solidFill>
                  <a:srgbClr val="0C1320"/>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97280" y="3959352"/>
            <a:ext cx="5760720" cy="365760"/>
          </a:xfrm>
          <a:prstGeom prst="rect">
            <a:avLst/>
          </a:prstGeom>
          <a:noFill/>
          <a:ln/>
        </p:spPr>
        <p:txBody>
          <a:bodyPr wrap="square" lIns="0" tIns="0" rIns="0" bIns="0" rtlCol="0" anchor="ctr"/>
          <a:lstStyle/>
          <a:p>
            <a:pPr indent="0" marL="0">
              <a:buNone/>
            </a:pPr>
            <a:r>
              <a:rPr lang="en-US" sz="1650" b="1" dirty="0">
                <a:solidFill>
                  <a:srgbClr val="ECE7DD"/>
                </a:solidFill>
                <a:latin typeface="Cambria" pitchFamily="34" charset="0"/>
                <a:ea typeface="Cambria" pitchFamily="34" charset="-122"/>
                <a:cs typeface="Cambria" pitchFamily="34" charset="-120"/>
              </a:rPr>
              <a:t>Understands the client, not just the maths</a:t>
            </a:r>
            <a:endParaRPr lang="en-US" sz="1650" dirty="0"/>
          </a:p>
        </p:txBody>
      </p:sp>
      <p:sp>
        <p:nvSpPr>
          <p:cNvPr id="15" name="Text 13"/>
          <p:cNvSpPr txBox="1"/>
          <p:nvPr/>
        </p:nvSpPr>
        <p:spPr>
          <a:xfrm>
            <a:off x="1097280" y="4343400"/>
            <a:ext cx="5852160" cy="640080"/>
          </a:xfrm>
          <a:prstGeom prst="rect">
            <a:avLst/>
          </a:prstGeom>
          <a:noFill/>
          <a:ln/>
        </p:spPr>
        <p:txBody>
          <a:bodyPr wrap="square" lIns="0" tIns="0" rIns="0" bIns="0" rtlCol="0" anchor="ctr"/>
          <a:lstStyle/>
          <a:p>
            <a:pPr indent="0" marL="0">
              <a:lnSpc>
                <a:spcPts val="1700"/>
              </a:lnSpc>
              <a:buNone/>
            </a:pPr>
            <a:r>
              <a:rPr lang="en-US" sz="1250" dirty="0">
                <a:solidFill>
                  <a:srgbClr val="A7ADBA"/>
                </a:solidFill>
                <a:latin typeface="Calibri" pitchFamily="34" charset="0"/>
                <a:ea typeface="Calibri" pitchFamily="34" charset="-122"/>
                <a:cs typeface="Calibri" pitchFamily="34" charset="-120"/>
              </a:rPr>
              <a:t>Reads mandate, tax domicile, objectives and the RM's own notes — where the real advice lives.</a:t>
            </a:r>
            <a:endParaRPr lang="en-US" sz="1250" dirty="0"/>
          </a:p>
        </p:txBody>
      </p:sp>
      <p:sp>
        <p:nvSpPr>
          <p:cNvPr id="16" name="Shape 14"/>
          <p:cNvSpPr/>
          <p:nvPr/>
        </p:nvSpPr>
        <p:spPr>
          <a:xfrm>
            <a:off x="7315200" y="1874520"/>
            <a:ext cx="4343400" cy="3977640"/>
          </a:xfrm>
          <a:prstGeom prst="roundRect">
            <a:avLst>
              <a:gd name="adj" fmla="val 2069"/>
            </a:avLst>
          </a:prstGeom>
          <a:solidFill>
            <a:srgbClr val="1B2A42"/>
          </a:solidFill>
          <a:ln w="12700">
            <a:solidFill>
              <a:srgbClr val="2A3752"/>
            </a:solidFill>
            <a:prstDash val="solid"/>
          </a:ln>
        </p:spPr>
      </p:sp>
      <p:sp>
        <p:nvSpPr>
          <p:cNvPr id="17" name="Text 15"/>
          <p:cNvSpPr txBox="1"/>
          <p:nvPr/>
        </p:nvSpPr>
        <p:spPr>
          <a:xfrm>
            <a:off x="7589520" y="2103120"/>
            <a:ext cx="3840480" cy="274320"/>
          </a:xfrm>
          <a:prstGeom prst="rect">
            <a:avLst/>
          </a:prstGeom>
          <a:noFill/>
          <a:ln/>
        </p:spPr>
        <p:txBody>
          <a:bodyPr wrap="square" lIns="0" tIns="0" rIns="0" bIns="0" rtlCol="0" anchor="ctr"/>
          <a:lstStyle/>
          <a:p>
            <a:pPr indent="0" marL="0">
              <a:buNone/>
            </a:pPr>
            <a:r>
              <a:rPr lang="en-US" sz="1150" b="1" spc="200" kern="0" dirty="0">
                <a:solidFill>
                  <a:srgbClr val="C9A86A"/>
                </a:solidFill>
                <a:latin typeface="Calibri" pitchFamily="34" charset="0"/>
                <a:ea typeface="Calibri" pitchFamily="34" charset="-122"/>
                <a:cs typeface="Calibri" pitchFamily="34" charset="-120"/>
              </a:rPr>
              <a:t>FLAGSHIP · LAU CHI MING</a:t>
            </a:r>
            <a:endParaRPr lang="en-US" sz="1150" dirty="0"/>
          </a:p>
        </p:txBody>
      </p:sp>
      <p:sp>
        <p:nvSpPr>
          <p:cNvPr id="18" name="Text 16"/>
          <p:cNvSpPr txBox="1"/>
          <p:nvPr/>
        </p:nvSpPr>
        <p:spPr>
          <a:xfrm>
            <a:off x="7589520" y="2468880"/>
            <a:ext cx="3840480" cy="731520"/>
          </a:xfrm>
          <a:prstGeom prst="rect">
            <a:avLst/>
          </a:prstGeom>
          <a:noFill/>
          <a:ln/>
        </p:spPr>
        <p:txBody>
          <a:bodyPr wrap="square" lIns="0" tIns="0" rIns="0" bIns="0" rtlCol="0" anchor="ctr"/>
          <a:lstStyle/>
          <a:p>
            <a:pPr indent="0" marL="0">
              <a:buNone/>
            </a:pPr>
            <a:r>
              <a:rPr lang="en-US" sz="4400" b="1" dirty="0">
                <a:solidFill>
                  <a:srgbClr val="B0453B"/>
                </a:solidFill>
                <a:latin typeface="Cambria" pitchFamily="34" charset="0"/>
                <a:ea typeface="Cambria" pitchFamily="34" charset="-122"/>
                <a:cs typeface="Cambria" pitchFamily="34" charset="-120"/>
              </a:rPr>
              <a:t>0.6 pts</a:t>
            </a:r>
            <a:endParaRPr lang="en-US" sz="4400" dirty="0"/>
          </a:p>
        </p:txBody>
      </p:sp>
      <p:sp>
        <p:nvSpPr>
          <p:cNvPr id="19" name="Text 17"/>
          <p:cNvSpPr txBox="1"/>
          <p:nvPr/>
        </p:nvSpPr>
        <p:spPr>
          <a:xfrm>
            <a:off x="7589520" y="3246120"/>
            <a:ext cx="3794760" cy="548640"/>
          </a:xfrm>
          <a:prstGeom prst="rect">
            <a:avLst/>
          </a:prstGeom>
          <a:noFill/>
          <a:ln/>
        </p:spPr>
        <p:txBody>
          <a:bodyPr wrap="square" lIns="0" tIns="0" rIns="0" bIns="0" rtlCol="0" anchor="ctr"/>
          <a:lstStyle/>
          <a:p>
            <a:pPr indent="0" marL="0">
              <a:lnSpc>
                <a:spcPts val="1800"/>
              </a:lnSpc>
              <a:buNone/>
            </a:pPr>
            <a:r>
              <a:rPr lang="en-US" sz="1300" dirty="0">
                <a:solidFill>
                  <a:srgbClr val="ECE7DD"/>
                </a:solidFill>
                <a:latin typeface="Calibri" pitchFamily="34" charset="0"/>
                <a:ea typeface="Calibri" pitchFamily="34" charset="-122"/>
                <a:cs typeface="Calibri" pitchFamily="34" charset="-120"/>
              </a:rPr>
              <a:t>from a margin call — as the 2026 shocks cut his collateral.</a:t>
            </a:r>
            <a:endParaRPr lang="en-US" sz="1300" dirty="0"/>
          </a:p>
        </p:txBody>
      </p:sp>
      <p:sp>
        <p:nvSpPr>
          <p:cNvPr id="20" name="Text 18"/>
          <p:cNvSpPr txBox="1"/>
          <p:nvPr/>
        </p:nvSpPr>
        <p:spPr>
          <a:xfrm>
            <a:off x="7589520" y="3886200"/>
            <a:ext cx="3840480" cy="594360"/>
          </a:xfrm>
          <a:prstGeom prst="rect">
            <a:avLst/>
          </a:prstGeom>
          <a:noFill/>
          <a:ln/>
        </p:spPr>
        <p:txBody>
          <a:bodyPr wrap="square" lIns="0" tIns="0" rIns="0" bIns="0" rtlCol="0" anchor="ctr"/>
          <a:lstStyle/>
          <a:p>
            <a:pPr indent="0" marL="0">
              <a:lnSpc>
                <a:spcPts val="1500"/>
              </a:lnSpc>
              <a:buNone/>
            </a:pPr>
            <a:r>
              <a:rPr lang="en-US" sz="1150" dirty="0">
                <a:solidFill>
                  <a:srgbClr val="C9A86A"/>
                </a:solidFill>
                <a:latin typeface="Calibri" pitchFamily="34" charset="0"/>
                <a:ea typeface="Calibri" pitchFamily="34" charset="-122"/>
                <a:cs typeface="Calibri" pitchFamily="34" charset="-120"/>
              </a:rPr>
              <a:t>—  </a:t>
            </a:r>
            <a:pPr indent="0" marL="0">
              <a:lnSpc>
                <a:spcPts val="1500"/>
              </a:lnSpc>
              <a:buNone/>
            </a:pPr>
            <a:r>
              <a:rPr lang="en-US" sz="1150" dirty="0">
                <a:solidFill>
                  <a:srgbClr val="A7ADBA"/>
                </a:solidFill>
                <a:latin typeface="Calibri" pitchFamily="34" charset="0"/>
                <a:ea typeface="Calibri" pitchFamily="34" charset="-122"/>
                <a:cs typeface="Calibri" pitchFamily="34" charset="-120"/>
              </a:rPr>
              <a:t>≈29% in one name once the stock, perpetual and accumulator are looked through</a:t>
            </a:r>
            <a:endParaRPr lang="en-US" sz="1150" dirty="0"/>
          </a:p>
        </p:txBody>
      </p:sp>
      <p:sp>
        <p:nvSpPr>
          <p:cNvPr id="21" name="Text 19"/>
          <p:cNvSpPr txBox="1"/>
          <p:nvPr/>
        </p:nvSpPr>
        <p:spPr>
          <a:xfrm>
            <a:off x="7589520" y="4544568"/>
            <a:ext cx="3840480" cy="594360"/>
          </a:xfrm>
          <a:prstGeom prst="rect">
            <a:avLst/>
          </a:prstGeom>
          <a:noFill/>
          <a:ln/>
        </p:spPr>
        <p:txBody>
          <a:bodyPr wrap="square" lIns="0" tIns="0" rIns="0" bIns="0" rtlCol="0" anchor="ctr"/>
          <a:lstStyle/>
          <a:p>
            <a:pPr indent="0" marL="0">
              <a:lnSpc>
                <a:spcPts val="1500"/>
              </a:lnSpc>
              <a:buNone/>
            </a:pPr>
            <a:r>
              <a:rPr lang="en-US" sz="1150" dirty="0">
                <a:solidFill>
                  <a:srgbClr val="C9A86A"/>
                </a:solidFill>
                <a:latin typeface="Calibri" pitchFamily="34" charset="0"/>
                <a:ea typeface="Calibri" pitchFamily="34" charset="-122"/>
                <a:cs typeface="Calibri" pitchFamily="34" charset="-120"/>
              </a:rPr>
              <a:t>—  </a:t>
            </a:r>
            <a:pPr indent="0" marL="0">
              <a:lnSpc>
                <a:spcPts val="1500"/>
              </a:lnSpc>
              <a:buNone/>
            </a:pPr>
            <a:r>
              <a:rPr lang="en-US" sz="1150" dirty="0">
                <a:solidFill>
                  <a:srgbClr val="A7ADBA"/>
                </a:solidFill>
                <a:latin typeface="Calibri" pitchFamily="34" charset="0"/>
                <a:ea typeface="Calibri" pitchFamily="34" charset="-122"/>
                <a:cs typeface="Calibri" pitchFamily="34" charset="-120"/>
              </a:rPr>
              <a:t>Only USD 12m genuinely free once the loan is netted</a:t>
            </a:r>
            <a:endParaRPr lang="en-US" sz="1150" dirty="0"/>
          </a:p>
        </p:txBody>
      </p:sp>
      <p:sp>
        <p:nvSpPr>
          <p:cNvPr id="22" name="Text 20"/>
          <p:cNvSpPr txBox="1"/>
          <p:nvPr/>
        </p:nvSpPr>
        <p:spPr>
          <a:xfrm>
            <a:off x="7589520" y="5202936"/>
            <a:ext cx="3840480" cy="594360"/>
          </a:xfrm>
          <a:prstGeom prst="rect">
            <a:avLst/>
          </a:prstGeom>
          <a:noFill/>
          <a:ln/>
        </p:spPr>
        <p:txBody>
          <a:bodyPr wrap="square" lIns="0" tIns="0" rIns="0" bIns="0" rtlCol="0" anchor="ctr"/>
          <a:lstStyle/>
          <a:p>
            <a:pPr indent="0" marL="0">
              <a:lnSpc>
                <a:spcPts val="1500"/>
              </a:lnSpc>
              <a:buNone/>
            </a:pPr>
            <a:r>
              <a:rPr lang="en-US" sz="1150" dirty="0">
                <a:solidFill>
                  <a:srgbClr val="C9A86A"/>
                </a:solidFill>
                <a:latin typeface="Calibri" pitchFamily="34" charset="0"/>
                <a:ea typeface="Calibri" pitchFamily="34" charset="-122"/>
                <a:cs typeface="Calibri" pitchFamily="34" charset="-120"/>
              </a:rPr>
              <a:t>—  </a:t>
            </a:r>
            <a:pPr indent="0" marL="0">
              <a:lnSpc>
                <a:spcPts val="1500"/>
              </a:lnSpc>
              <a:buNone/>
            </a:pPr>
            <a:r>
              <a:rPr lang="en-US" sz="1150" dirty="0">
                <a:solidFill>
                  <a:srgbClr val="A7ADBA"/>
                </a:solidFill>
                <a:latin typeface="Calibri" pitchFamily="34" charset="0"/>
                <a:ea typeface="Calibri" pitchFamily="34" charset="-122"/>
                <a:cs typeface="Calibri" pitchFamily="34" charset="-120"/>
              </a:rPr>
              <a:t>His notes: 'the perpetual, the shares, the accumulator… are the same bet'</a:t>
            </a:r>
            <a:endParaRPr lang="en-US" sz="1150" dirty="0"/>
          </a:p>
        </p:txBody>
      </p:sp>
      <p:sp>
        <p:nvSpPr>
          <p:cNvPr id="23" name="Text 2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7C8492"/>
                </a:solidFill>
                <a:latin typeface="Calibri" pitchFamily="34" charset="0"/>
                <a:ea typeface="Calibri" pitchFamily="34" charset="-122"/>
                <a:cs typeface="Calibri" pitchFamily="34" charset="-120"/>
              </a:rPr>
              <a:t>Wealth Intelligence · Julius Baer · Track #1</a:t>
            </a:r>
            <a:endParaRPr lang="en-US" sz="900" dirty="0"/>
          </a:p>
        </p:txBody>
      </p:sp>
      <p:sp>
        <p:nvSpPr>
          <p:cNvPr id="24" name="Text 22"/>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7C849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320"/>
        </a:solidFill>
      </p:bgPr>
    </p:bg>
    <p:spTree>
      <p:nvGrpSpPr>
        <p:cNvPr id="1" name=""/>
        <p:cNvGrpSpPr/>
        <p:nvPr/>
      </p:nvGrpSpPr>
      <p:grpSpPr>
        <a:xfrm>
          <a:off x="0" y="0"/>
          <a:ext cx="0" cy="0"/>
          <a:chOff x="0" y="0"/>
          <a:chExt cx="0" cy="0"/>
        </a:xfrm>
      </p:grpSpPr>
      <p:sp>
        <p:nvSpPr>
          <p:cNvPr id="2" name="Text 0"/>
          <p:cNvSpPr txBox="1"/>
          <p:nvPr/>
        </p:nvSpPr>
        <p:spPr>
          <a:xfrm>
            <a:off x="566928" y="457200"/>
            <a:ext cx="9144000" cy="274320"/>
          </a:xfrm>
          <a:prstGeom prst="rect">
            <a:avLst/>
          </a:prstGeom>
          <a:noFill/>
          <a:ln/>
        </p:spPr>
        <p:txBody>
          <a:bodyPr wrap="square" lIns="0" tIns="0" rIns="0" bIns="0" rtlCol="0" anchor="ctr"/>
          <a:lstStyle/>
          <a:p>
            <a:pPr indent="0" marL="0">
              <a:buNone/>
            </a:pPr>
            <a:r>
              <a:rPr lang="en-US" sz="1150" b="1" spc="300" kern="0" dirty="0">
                <a:solidFill>
                  <a:srgbClr val="C9A86A"/>
                </a:solidFill>
                <a:latin typeface="Calibri" pitchFamily="34" charset="0"/>
                <a:ea typeface="Calibri" pitchFamily="34" charset="-122"/>
                <a:cs typeface="Calibri" pitchFamily="34" charset="-120"/>
              </a:rPr>
              <a:t>07 · BUILT TO LIVE INSIDE JULIUS BAER</a:t>
            </a:r>
            <a:endParaRPr lang="en-US" sz="1150" dirty="0"/>
          </a:p>
        </p:txBody>
      </p:sp>
      <p:sp>
        <p:nvSpPr>
          <p:cNvPr id="3" name="Text 1"/>
          <p:cNvSpPr txBox="1"/>
          <p:nvPr/>
        </p:nvSpPr>
        <p:spPr>
          <a:xfrm>
            <a:off x="548640" y="749808"/>
            <a:ext cx="10972800" cy="914400"/>
          </a:xfrm>
          <a:prstGeom prst="rect">
            <a:avLst/>
          </a:prstGeom>
          <a:noFill/>
          <a:ln/>
        </p:spPr>
        <p:txBody>
          <a:bodyPr wrap="square" lIns="0" tIns="0" rIns="0" bIns="0" rtlCol="0" anchor="ctr"/>
          <a:lstStyle/>
          <a:p>
            <a:pPr indent="0" marL="0">
              <a:lnSpc>
                <a:spcPts val="3360"/>
              </a:lnSpc>
              <a:buNone/>
            </a:pPr>
            <a:r>
              <a:rPr lang="en-US" sz="3200" b="1" dirty="0">
                <a:solidFill>
                  <a:srgbClr val="ECE7DD"/>
                </a:solidFill>
                <a:latin typeface="Cambria" pitchFamily="34" charset="0"/>
                <a:ea typeface="Cambria" pitchFamily="34" charset="-122"/>
                <a:cs typeface="Cambria" pitchFamily="34" charset="-120"/>
              </a:rPr>
              <a:t>Feasibility &amp; compliance, by construction</a:t>
            </a:r>
            <a:endParaRPr lang="en-US" sz="3200" dirty="0"/>
          </a:p>
        </p:txBody>
      </p:sp>
      <p:sp>
        <p:nvSpPr>
          <p:cNvPr id="4" name="Shape 2"/>
          <p:cNvSpPr/>
          <p:nvPr/>
        </p:nvSpPr>
        <p:spPr>
          <a:xfrm>
            <a:off x="548640" y="1965960"/>
            <a:ext cx="3566160" cy="1737360"/>
          </a:xfrm>
          <a:prstGeom prst="roundRect">
            <a:avLst>
              <a:gd name="adj" fmla="val 4737"/>
            </a:avLst>
          </a:prstGeom>
          <a:solidFill>
            <a:srgbClr val="16233A"/>
          </a:solidFill>
          <a:ln w="12700">
            <a:solidFill>
              <a:srgbClr val="2A3752"/>
            </a:solidFill>
            <a:prstDash val="solid"/>
          </a:ln>
        </p:spPr>
      </p:sp>
      <p:sp>
        <p:nvSpPr>
          <p:cNvPr id="5" name="Shape 3"/>
          <p:cNvSpPr/>
          <p:nvPr/>
        </p:nvSpPr>
        <p:spPr>
          <a:xfrm>
            <a:off x="804672" y="2221992"/>
            <a:ext cx="310896" cy="310896"/>
          </a:xfrm>
          <a:prstGeom prst="ellipse">
            <a:avLst/>
          </a:prstGeom>
          <a:solidFill>
            <a:srgbClr val="1B2A42"/>
          </a:solidFill>
          <a:ln w="12700">
            <a:solidFill>
              <a:srgbClr val="C9A86A"/>
            </a:solidFill>
            <a:prstDash val="solid"/>
          </a:ln>
        </p:spPr>
      </p:sp>
      <p:sp>
        <p:nvSpPr>
          <p:cNvPr id="6" name="Text 4"/>
          <p:cNvSpPr txBox="1"/>
          <p:nvPr/>
        </p:nvSpPr>
        <p:spPr>
          <a:xfrm>
            <a:off x="804672" y="2221992"/>
            <a:ext cx="310896" cy="310896"/>
          </a:xfrm>
          <a:prstGeom prst="rect">
            <a:avLst/>
          </a:prstGeom>
          <a:noFill/>
          <a:ln/>
        </p:spPr>
        <p:txBody>
          <a:bodyPr wrap="square" lIns="0" tIns="0" rIns="0" bIns="0" rtlCol="0" anchor="ctr"/>
          <a:lstStyle/>
          <a:p>
            <a:pPr algn="ctr" indent="0" marL="0">
              <a:buNone/>
            </a:pPr>
            <a:r>
              <a:rPr lang="en-US" sz="1300" b="1" dirty="0">
                <a:solidFill>
                  <a:srgbClr val="C9A86A"/>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34440" y="2221992"/>
            <a:ext cx="2743200"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Explainability</a:t>
            </a:r>
            <a:endParaRPr lang="en-US" sz="1600" dirty="0"/>
          </a:p>
        </p:txBody>
      </p:sp>
      <p:sp>
        <p:nvSpPr>
          <p:cNvPr id="8" name="Text 6"/>
          <p:cNvSpPr txBox="1"/>
          <p:nvPr/>
        </p:nvSpPr>
        <p:spPr>
          <a:xfrm>
            <a:off x="822960" y="2743200"/>
            <a:ext cx="3063240" cy="868680"/>
          </a:xfrm>
          <a:prstGeom prst="rect">
            <a:avLst/>
          </a:prstGeom>
          <a:noFill/>
          <a:ln/>
        </p:spPr>
        <p:txBody>
          <a:bodyPr wrap="square" lIns="0" tIns="0" rIns="0" bIns="0" rtlCol="0" anchor="ctr"/>
          <a:lstStyle/>
          <a:p>
            <a:pPr indent="0" marL="0">
              <a:lnSpc>
                <a:spcPts val="1600"/>
              </a:lnSpc>
              <a:buNone/>
            </a:pPr>
            <a:r>
              <a:rPr lang="en-US" sz="1200" dirty="0">
                <a:solidFill>
                  <a:srgbClr val="A7ADBA"/>
                </a:solidFill>
                <a:latin typeface="Calibri" pitchFamily="34" charset="0"/>
                <a:ea typeface="Calibri" pitchFamily="34" charset="-122"/>
                <a:cs typeface="Calibri" pitchFamily="34" charset="-120"/>
              </a:rPr>
              <a:t>Every insight is a named detector carrying its facts; the 'Why?' shows them.</a:t>
            </a:r>
            <a:endParaRPr lang="en-US" sz="1200" dirty="0"/>
          </a:p>
        </p:txBody>
      </p:sp>
      <p:sp>
        <p:nvSpPr>
          <p:cNvPr id="9" name="Shape 7"/>
          <p:cNvSpPr/>
          <p:nvPr/>
        </p:nvSpPr>
        <p:spPr>
          <a:xfrm>
            <a:off x="4325112" y="1965960"/>
            <a:ext cx="3566160" cy="1737360"/>
          </a:xfrm>
          <a:prstGeom prst="roundRect">
            <a:avLst>
              <a:gd name="adj" fmla="val 4737"/>
            </a:avLst>
          </a:prstGeom>
          <a:solidFill>
            <a:srgbClr val="16233A"/>
          </a:solidFill>
          <a:ln w="12700">
            <a:solidFill>
              <a:srgbClr val="2A3752"/>
            </a:solidFill>
            <a:prstDash val="solid"/>
          </a:ln>
        </p:spPr>
      </p:sp>
      <p:sp>
        <p:nvSpPr>
          <p:cNvPr id="10" name="Shape 8"/>
          <p:cNvSpPr/>
          <p:nvPr/>
        </p:nvSpPr>
        <p:spPr>
          <a:xfrm>
            <a:off x="4581144" y="2221992"/>
            <a:ext cx="310896" cy="310896"/>
          </a:xfrm>
          <a:prstGeom prst="ellipse">
            <a:avLst/>
          </a:prstGeom>
          <a:solidFill>
            <a:srgbClr val="1B2A42"/>
          </a:solidFill>
          <a:ln w="12700">
            <a:solidFill>
              <a:srgbClr val="C9A86A"/>
            </a:solidFill>
            <a:prstDash val="solid"/>
          </a:ln>
        </p:spPr>
      </p:sp>
      <p:sp>
        <p:nvSpPr>
          <p:cNvPr id="11" name="Text 9"/>
          <p:cNvSpPr txBox="1"/>
          <p:nvPr/>
        </p:nvSpPr>
        <p:spPr>
          <a:xfrm>
            <a:off x="4581144" y="2221992"/>
            <a:ext cx="310896" cy="310896"/>
          </a:xfrm>
          <a:prstGeom prst="rect">
            <a:avLst/>
          </a:prstGeom>
          <a:noFill/>
          <a:ln/>
        </p:spPr>
        <p:txBody>
          <a:bodyPr wrap="square" lIns="0" tIns="0" rIns="0" bIns="0" rtlCol="0" anchor="ctr"/>
          <a:lstStyle/>
          <a:p>
            <a:pPr algn="ctr" indent="0" marL="0">
              <a:buNone/>
            </a:pPr>
            <a:r>
              <a:rPr lang="en-US" sz="1300" b="1" dirty="0">
                <a:solidFill>
                  <a:srgbClr val="C9A86A"/>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010912" y="2221992"/>
            <a:ext cx="2743200"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Suitability</a:t>
            </a:r>
            <a:endParaRPr lang="en-US" sz="1600" dirty="0"/>
          </a:p>
        </p:txBody>
      </p:sp>
      <p:sp>
        <p:nvSpPr>
          <p:cNvPr id="13" name="Text 11"/>
          <p:cNvSpPr txBox="1"/>
          <p:nvPr/>
        </p:nvSpPr>
        <p:spPr>
          <a:xfrm>
            <a:off x="4599432" y="2743200"/>
            <a:ext cx="3063240" cy="868680"/>
          </a:xfrm>
          <a:prstGeom prst="rect">
            <a:avLst/>
          </a:prstGeom>
          <a:noFill/>
          <a:ln/>
        </p:spPr>
        <p:txBody>
          <a:bodyPr wrap="square" lIns="0" tIns="0" rIns="0" bIns="0" rtlCol="0" anchor="ctr"/>
          <a:lstStyle/>
          <a:p>
            <a:pPr indent="0" marL="0">
              <a:lnSpc>
                <a:spcPts val="1600"/>
              </a:lnSpc>
              <a:buNone/>
            </a:pPr>
            <a:r>
              <a:rPr lang="en-US" sz="1200" dirty="0">
                <a:solidFill>
                  <a:srgbClr val="A7ADBA"/>
                </a:solidFill>
                <a:latin typeface="Calibri" pitchFamily="34" charset="0"/>
                <a:ea typeface="Calibri" pitchFamily="34" charset="-122"/>
                <a:cs typeface="Calibri" pitchFamily="34" charset="-120"/>
              </a:rPr>
              <a:t>Findings respect mandate, risk profile and objectives — so does the model.</a:t>
            </a:r>
            <a:endParaRPr lang="en-US" sz="1200" dirty="0"/>
          </a:p>
        </p:txBody>
      </p:sp>
      <p:sp>
        <p:nvSpPr>
          <p:cNvPr id="14" name="Shape 12"/>
          <p:cNvSpPr/>
          <p:nvPr/>
        </p:nvSpPr>
        <p:spPr>
          <a:xfrm>
            <a:off x="8101584" y="1965960"/>
            <a:ext cx="3566160" cy="1737360"/>
          </a:xfrm>
          <a:prstGeom prst="roundRect">
            <a:avLst>
              <a:gd name="adj" fmla="val 4737"/>
            </a:avLst>
          </a:prstGeom>
          <a:solidFill>
            <a:srgbClr val="16233A"/>
          </a:solidFill>
          <a:ln w="12700">
            <a:solidFill>
              <a:srgbClr val="2A3752"/>
            </a:solidFill>
            <a:prstDash val="solid"/>
          </a:ln>
        </p:spPr>
      </p:sp>
      <p:sp>
        <p:nvSpPr>
          <p:cNvPr id="15" name="Shape 13"/>
          <p:cNvSpPr/>
          <p:nvPr/>
        </p:nvSpPr>
        <p:spPr>
          <a:xfrm>
            <a:off x="8357616" y="2221992"/>
            <a:ext cx="310896" cy="310896"/>
          </a:xfrm>
          <a:prstGeom prst="ellipse">
            <a:avLst/>
          </a:prstGeom>
          <a:solidFill>
            <a:srgbClr val="1B2A42"/>
          </a:solidFill>
          <a:ln w="12700">
            <a:solidFill>
              <a:srgbClr val="C9A86A"/>
            </a:solidFill>
            <a:prstDash val="solid"/>
          </a:ln>
        </p:spPr>
      </p:sp>
      <p:sp>
        <p:nvSpPr>
          <p:cNvPr id="16" name="Text 14"/>
          <p:cNvSpPr txBox="1"/>
          <p:nvPr/>
        </p:nvSpPr>
        <p:spPr>
          <a:xfrm>
            <a:off x="8357616" y="2221992"/>
            <a:ext cx="310896" cy="310896"/>
          </a:xfrm>
          <a:prstGeom prst="rect">
            <a:avLst/>
          </a:prstGeom>
          <a:noFill/>
          <a:ln/>
        </p:spPr>
        <p:txBody>
          <a:bodyPr wrap="square" lIns="0" tIns="0" rIns="0" bIns="0" rtlCol="0" anchor="ctr"/>
          <a:lstStyle/>
          <a:p>
            <a:pPr algn="ctr" indent="0" marL="0">
              <a:buNone/>
            </a:pPr>
            <a:r>
              <a:rPr lang="en-US" sz="1300" b="1" dirty="0">
                <a:solidFill>
                  <a:srgbClr val="C9A86A"/>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787384" y="2221992"/>
            <a:ext cx="2743200"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Human oversight</a:t>
            </a:r>
            <a:endParaRPr lang="en-US" sz="1600" dirty="0"/>
          </a:p>
        </p:txBody>
      </p:sp>
      <p:sp>
        <p:nvSpPr>
          <p:cNvPr id="18" name="Text 16"/>
          <p:cNvSpPr txBox="1"/>
          <p:nvPr/>
        </p:nvSpPr>
        <p:spPr>
          <a:xfrm>
            <a:off x="8375904" y="2743200"/>
            <a:ext cx="3063240" cy="868680"/>
          </a:xfrm>
          <a:prstGeom prst="rect">
            <a:avLst/>
          </a:prstGeom>
          <a:noFill/>
          <a:ln/>
        </p:spPr>
        <p:txBody>
          <a:bodyPr wrap="square" lIns="0" tIns="0" rIns="0" bIns="0" rtlCol="0" anchor="ctr"/>
          <a:lstStyle/>
          <a:p>
            <a:pPr indent="0" marL="0">
              <a:lnSpc>
                <a:spcPts val="1600"/>
              </a:lnSpc>
              <a:buNone/>
            </a:pPr>
            <a:r>
              <a:rPr lang="en-US" sz="1200" dirty="0">
                <a:solidFill>
                  <a:srgbClr val="A7ADBA"/>
                </a:solidFill>
                <a:latin typeface="Calibri" pitchFamily="34" charset="0"/>
                <a:ea typeface="Calibri" pitchFamily="34" charset="-122"/>
                <a:cs typeface="Calibri" pitchFamily="34" charset="-120"/>
              </a:rPr>
              <a:t>Accept / Edit / Dismiss on every insight; nothing is auto-actioned.</a:t>
            </a:r>
            <a:endParaRPr lang="en-US" sz="1200" dirty="0"/>
          </a:p>
        </p:txBody>
      </p:sp>
      <p:sp>
        <p:nvSpPr>
          <p:cNvPr id="19" name="Shape 17"/>
          <p:cNvSpPr/>
          <p:nvPr/>
        </p:nvSpPr>
        <p:spPr>
          <a:xfrm>
            <a:off x="548640" y="3931920"/>
            <a:ext cx="3566160" cy="1737360"/>
          </a:xfrm>
          <a:prstGeom prst="roundRect">
            <a:avLst>
              <a:gd name="adj" fmla="val 4737"/>
            </a:avLst>
          </a:prstGeom>
          <a:solidFill>
            <a:srgbClr val="16233A"/>
          </a:solidFill>
          <a:ln w="12700">
            <a:solidFill>
              <a:srgbClr val="2A3752"/>
            </a:solidFill>
            <a:prstDash val="solid"/>
          </a:ln>
        </p:spPr>
      </p:sp>
      <p:sp>
        <p:nvSpPr>
          <p:cNvPr id="20" name="Shape 18"/>
          <p:cNvSpPr/>
          <p:nvPr/>
        </p:nvSpPr>
        <p:spPr>
          <a:xfrm>
            <a:off x="804672" y="4187952"/>
            <a:ext cx="310896" cy="310896"/>
          </a:xfrm>
          <a:prstGeom prst="ellipse">
            <a:avLst/>
          </a:prstGeom>
          <a:solidFill>
            <a:srgbClr val="1B2A42"/>
          </a:solidFill>
          <a:ln w="12700">
            <a:solidFill>
              <a:srgbClr val="C9A86A"/>
            </a:solidFill>
            <a:prstDash val="solid"/>
          </a:ln>
        </p:spPr>
      </p:sp>
      <p:sp>
        <p:nvSpPr>
          <p:cNvPr id="21" name="Text 19"/>
          <p:cNvSpPr txBox="1"/>
          <p:nvPr/>
        </p:nvSpPr>
        <p:spPr>
          <a:xfrm>
            <a:off x="804672" y="4187952"/>
            <a:ext cx="310896" cy="310896"/>
          </a:xfrm>
          <a:prstGeom prst="rect">
            <a:avLst/>
          </a:prstGeom>
          <a:noFill/>
          <a:ln/>
        </p:spPr>
        <p:txBody>
          <a:bodyPr wrap="square" lIns="0" tIns="0" rIns="0" bIns="0" rtlCol="0" anchor="ctr"/>
          <a:lstStyle/>
          <a:p>
            <a:pPr algn="ctr" indent="0" marL="0">
              <a:buNone/>
            </a:pPr>
            <a:r>
              <a:rPr lang="en-US" sz="1300" b="1" dirty="0">
                <a:solidFill>
                  <a:srgbClr val="C9A86A"/>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234440" y="4187952"/>
            <a:ext cx="2743200"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Traceability</a:t>
            </a:r>
            <a:endParaRPr lang="en-US" sz="1600" dirty="0"/>
          </a:p>
        </p:txBody>
      </p:sp>
      <p:sp>
        <p:nvSpPr>
          <p:cNvPr id="23" name="Text 21"/>
          <p:cNvSpPr txBox="1"/>
          <p:nvPr/>
        </p:nvSpPr>
        <p:spPr>
          <a:xfrm>
            <a:off x="822960" y="4709160"/>
            <a:ext cx="3063240" cy="868680"/>
          </a:xfrm>
          <a:prstGeom prst="rect">
            <a:avLst/>
          </a:prstGeom>
          <a:noFill/>
          <a:ln/>
        </p:spPr>
        <p:txBody>
          <a:bodyPr wrap="square" lIns="0" tIns="0" rIns="0" bIns="0" rtlCol="0" anchor="ctr"/>
          <a:lstStyle/>
          <a:p>
            <a:pPr indent="0" marL="0">
              <a:lnSpc>
                <a:spcPts val="1600"/>
              </a:lnSpc>
              <a:buNone/>
            </a:pPr>
            <a:r>
              <a:rPr lang="en-US" sz="1200" dirty="0">
                <a:solidFill>
                  <a:srgbClr val="A7ADBA"/>
                </a:solidFill>
                <a:latin typeface="Calibri" pitchFamily="34" charset="0"/>
                <a:ea typeface="Calibri" pitchFamily="34" charset="-122"/>
                <a:cs typeface="Calibri" pitchFamily="34" charset="-120"/>
              </a:rPr>
              <a:t>Each finding lists its source rows — e.g. credit_facilities.csv:CF-0002.</a:t>
            </a:r>
            <a:endParaRPr lang="en-US" sz="1200" dirty="0"/>
          </a:p>
        </p:txBody>
      </p:sp>
      <p:sp>
        <p:nvSpPr>
          <p:cNvPr id="24" name="Shape 22"/>
          <p:cNvSpPr/>
          <p:nvPr/>
        </p:nvSpPr>
        <p:spPr>
          <a:xfrm>
            <a:off x="4325112" y="3931920"/>
            <a:ext cx="3566160" cy="1737360"/>
          </a:xfrm>
          <a:prstGeom prst="roundRect">
            <a:avLst>
              <a:gd name="adj" fmla="val 4737"/>
            </a:avLst>
          </a:prstGeom>
          <a:solidFill>
            <a:srgbClr val="16233A"/>
          </a:solidFill>
          <a:ln w="12700">
            <a:solidFill>
              <a:srgbClr val="2A3752"/>
            </a:solidFill>
            <a:prstDash val="solid"/>
          </a:ln>
        </p:spPr>
      </p:sp>
      <p:sp>
        <p:nvSpPr>
          <p:cNvPr id="25" name="Shape 23"/>
          <p:cNvSpPr/>
          <p:nvPr/>
        </p:nvSpPr>
        <p:spPr>
          <a:xfrm>
            <a:off x="4581144" y="4187952"/>
            <a:ext cx="310896" cy="310896"/>
          </a:xfrm>
          <a:prstGeom prst="ellipse">
            <a:avLst/>
          </a:prstGeom>
          <a:solidFill>
            <a:srgbClr val="1B2A42"/>
          </a:solidFill>
          <a:ln w="12700">
            <a:solidFill>
              <a:srgbClr val="C9A86A"/>
            </a:solidFill>
            <a:prstDash val="solid"/>
          </a:ln>
        </p:spPr>
      </p:sp>
      <p:sp>
        <p:nvSpPr>
          <p:cNvPr id="26" name="Text 24"/>
          <p:cNvSpPr txBox="1"/>
          <p:nvPr/>
        </p:nvSpPr>
        <p:spPr>
          <a:xfrm>
            <a:off x="4581144" y="4187952"/>
            <a:ext cx="310896" cy="310896"/>
          </a:xfrm>
          <a:prstGeom prst="rect">
            <a:avLst/>
          </a:prstGeom>
          <a:noFill/>
          <a:ln/>
        </p:spPr>
        <p:txBody>
          <a:bodyPr wrap="square" lIns="0" tIns="0" rIns="0" bIns="0" rtlCol="0" anchor="ctr"/>
          <a:lstStyle/>
          <a:p>
            <a:pPr algn="ctr" indent="0" marL="0">
              <a:buNone/>
            </a:pPr>
            <a:r>
              <a:rPr lang="en-US" sz="1300" b="1" dirty="0">
                <a:solidFill>
                  <a:srgbClr val="C9A86A"/>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5010912" y="4187952"/>
            <a:ext cx="2743200"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Security</a:t>
            </a:r>
            <a:endParaRPr lang="en-US" sz="1600" dirty="0"/>
          </a:p>
        </p:txBody>
      </p:sp>
      <p:sp>
        <p:nvSpPr>
          <p:cNvPr id="28" name="Text 26"/>
          <p:cNvSpPr txBox="1"/>
          <p:nvPr/>
        </p:nvSpPr>
        <p:spPr>
          <a:xfrm>
            <a:off x="4599432" y="4709160"/>
            <a:ext cx="3063240" cy="868680"/>
          </a:xfrm>
          <a:prstGeom prst="rect">
            <a:avLst/>
          </a:prstGeom>
          <a:noFill/>
          <a:ln/>
        </p:spPr>
        <p:txBody>
          <a:bodyPr wrap="square" lIns="0" tIns="0" rIns="0" bIns="0" rtlCol="0" anchor="ctr"/>
          <a:lstStyle/>
          <a:p>
            <a:pPr indent="0" marL="0">
              <a:lnSpc>
                <a:spcPts val="1600"/>
              </a:lnSpc>
              <a:buNone/>
            </a:pPr>
            <a:r>
              <a:rPr lang="en-US" sz="1200" dirty="0">
                <a:solidFill>
                  <a:srgbClr val="A7ADBA"/>
                </a:solidFill>
                <a:latin typeface="Calibri" pitchFamily="34" charset="0"/>
                <a:ea typeface="Calibri" pitchFamily="34" charset="-122"/>
                <a:cs typeface="Calibri" pitchFamily="34" charset="-120"/>
              </a:rPr>
              <a:t>No client data leaves the engine; the API key lives in the environment, never in code.</a:t>
            </a:r>
            <a:endParaRPr lang="en-US" sz="1200" dirty="0"/>
          </a:p>
        </p:txBody>
      </p:sp>
      <p:sp>
        <p:nvSpPr>
          <p:cNvPr id="29" name="Shape 27"/>
          <p:cNvSpPr/>
          <p:nvPr/>
        </p:nvSpPr>
        <p:spPr>
          <a:xfrm>
            <a:off x="8101584" y="3931920"/>
            <a:ext cx="3566160" cy="1737360"/>
          </a:xfrm>
          <a:prstGeom prst="roundRect">
            <a:avLst>
              <a:gd name="adj" fmla="val 4737"/>
            </a:avLst>
          </a:prstGeom>
          <a:solidFill>
            <a:srgbClr val="16233A"/>
          </a:solidFill>
          <a:ln w="12700">
            <a:solidFill>
              <a:srgbClr val="2A3752"/>
            </a:solidFill>
            <a:prstDash val="solid"/>
          </a:ln>
        </p:spPr>
      </p:sp>
      <p:sp>
        <p:nvSpPr>
          <p:cNvPr id="30" name="Shape 28"/>
          <p:cNvSpPr/>
          <p:nvPr/>
        </p:nvSpPr>
        <p:spPr>
          <a:xfrm>
            <a:off x="8357616" y="4187952"/>
            <a:ext cx="310896" cy="310896"/>
          </a:xfrm>
          <a:prstGeom prst="ellipse">
            <a:avLst/>
          </a:prstGeom>
          <a:solidFill>
            <a:srgbClr val="1B2A42"/>
          </a:solidFill>
          <a:ln w="12700">
            <a:solidFill>
              <a:srgbClr val="C9A86A"/>
            </a:solidFill>
            <a:prstDash val="solid"/>
          </a:ln>
        </p:spPr>
      </p:sp>
      <p:sp>
        <p:nvSpPr>
          <p:cNvPr id="31" name="Text 29"/>
          <p:cNvSpPr txBox="1"/>
          <p:nvPr/>
        </p:nvSpPr>
        <p:spPr>
          <a:xfrm>
            <a:off x="8357616" y="4187952"/>
            <a:ext cx="310896" cy="310896"/>
          </a:xfrm>
          <a:prstGeom prst="rect">
            <a:avLst/>
          </a:prstGeom>
          <a:noFill/>
          <a:ln/>
        </p:spPr>
        <p:txBody>
          <a:bodyPr wrap="square" lIns="0" tIns="0" rIns="0" bIns="0" rtlCol="0" anchor="ctr"/>
          <a:lstStyle/>
          <a:p>
            <a:pPr algn="ctr" indent="0" marL="0">
              <a:buNone/>
            </a:pPr>
            <a:r>
              <a:rPr lang="en-US" sz="1300" b="1" dirty="0">
                <a:solidFill>
                  <a:srgbClr val="C9A86A"/>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8787384" y="4187952"/>
            <a:ext cx="2743200" cy="365760"/>
          </a:xfrm>
          <a:prstGeom prst="rect">
            <a:avLst/>
          </a:prstGeom>
          <a:noFill/>
          <a:ln/>
        </p:spPr>
        <p:txBody>
          <a:bodyPr wrap="square" lIns="0" tIns="0" rIns="0" bIns="0" rtlCol="0" anchor="ctr"/>
          <a:lstStyle/>
          <a:p>
            <a:pPr indent="0" marL="0">
              <a:buNone/>
            </a:pPr>
            <a:r>
              <a:rPr lang="en-US" sz="1600" b="1" dirty="0">
                <a:solidFill>
                  <a:srgbClr val="ECE7DD"/>
                </a:solidFill>
                <a:latin typeface="Cambria" pitchFamily="34" charset="0"/>
                <a:ea typeface="Cambria" pitchFamily="34" charset="-122"/>
                <a:cs typeface="Cambria" pitchFamily="34" charset="-120"/>
              </a:rPr>
              <a:t>Operability</a:t>
            </a:r>
            <a:endParaRPr lang="en-US" sz="1600" dirty="0"/>
          </a:p>
        </p:txBody>
      </p:sp>
      <p:sp>
        <p:nvSpPr>
          <p:cNvPr id="33" name="Text 31"/>
          <p:cNvSpPr txBox="1"/>
          <p:nvPr/>
        </p:nvSpPr>
        <p:spPr>
          <a:xfrm>
            <a:off x="8375904" y="4709160"/>
            <a:ext cx="3063240" cy="868680"/>
          </a:xfrm>
          <a:prstGeom prst="rect">
            <a:avLst/>
          </a:prstGeom>
          <a:noFill/>
          <a:ln/>
        </p:spPr>
        <p:txBody>
          <a:bodyPr wrap="square" lIns="0" tIns="0" rIns="0" bIns="0" rtlCol="0" anchor="ctr"/>
          <a:lstStyle/>
          <a:p>
            <a:pPr indent="0" marL="0">
              <a:lnSpc>
                <a:spcPts val="1600"/>
              </a:lnSpc>
              <a:buNone/>
            </a:pPr>
            <a:r>
              <a:rPr lang="en-US" sz="1200" dirty="0">
                <a:solidFill>
                  <a:srgbClr val="A7ADBA"/>
                </a:solidFill>
                <a:latin typeface="Calibri" pitchFamily="34" charset="0"/>
                <a:ea typeface="Calibri" pitchFamily="34" charset="-122"/>
                <a:cs typeface="Calibri" pitchFamily="34" charset="-120"/>
              </a:rPr>
              <a:t>Pure-stdlib engine + one container image; runs on any bank-approved Python host.</a:t>
            </a:r>
            <a:endParaRPr lang="en-US" sz="1200" dirty="0"/>
          </a:p>
        </p:txBody>
      </p:sp>
      <p:sp>
        <p:nvSpPr>
          <p:cNvPr id="34" name="Text 32"/>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7C8492"/>
                </a:solidFill>
                <a:latin typeface="Calibri" pitchFamily="34" charset="0"/>
                <a:ea typeface="Calibri" pitchFamily="34" charset="-122"/>
                <a:cs typeface="Calibri" pitchFamily="34" charset="-120"/>
              </a:rPr>
              <a:t>Wealth Intelligence · Julius Baer · Track #1</a:t>
            </a:r>
            <a:endParaRPr lang="en-US" sz="900" dirty="0"/>
          </a:p>
        </p:txBody>
      </p:sp>
      <p:sp>
        <p:nvSpPr>
          <p:cNvPr id="35" name="Text 33"/>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7C849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320"/>
        </a:solidFill>
      </p:bgPr>
    </p:bg>
    <p:spTree>
      <p:nvGrpSpPr>
        <p:cNvPr id="1" name=""/>
        <p:cNvGrpSpPr/>
        <p:nvPr/>
      </p:nvGrpSpPr>
      <p:grpSpPr>
        <a:xfrm>
          <a:off x="0" y="0"/>
          <a:ext cx="0" cy="0"/>
          <a:chOff x="0" y="0"/>
          <a:chExt cx="0" cy="0"/>
        </a:xfrm>
      </p:grpSpPr>
      <p:sp>
        <p:nvSpPr>
          <p:cNvPr id="2" name="Text 0"/>
          <p:cNvSpPr txBox="1"/>
          <p:nvPr/>
        </p:nvSpPr>
        <p:spPr>
          <a:xfrm>
            <a:off x="566928" y="457200"/>
            <a:ext cx="9144000" cy="274320"/>
          </a:xfrm>
          <a:prstGeom prst="rect">
            <a:avLst/>
          </a:prstGeom>
          <a:noFill/>
          <a:ln/>
        </p:spPr>
        <p:txBody>
          <a:bodyPr wrap="square" lIns="0" tIns="0" rIns="0" bIns="0" rtlCol="0" anchor="ctr"/>
          <a:lstStyle/>
          <a:p>
            <a:pPr indent="0" marL="0">
              <a:buNone/>
            </a:pPr>
            <a:r>
              <a:rPr lang="en-US" sz="1150" b="1" spc="300" kern="0" dirty="0">
                <a:solidFill>
                  <a:srgbClr val="C9A86A"/>
                </a:solidFill>
                <a:latin typeface="Calibri" pitchFamily="34" charset="0"/>
                <a:ea typeface="Calibri" pitchFamily="34" charset="-122"/>
                <a:cs typeface="Calibri" pitchFamily="34" charset="-120"/>
              </a:rPr>
              <a:t>08 · FAITHFUL TO THE CASE</a:t>
            </a:r>
            <a:endParaRPr lang="en-US" sz="1150" dirty="0"/>
          </a:p>
        </p:txBody>
      </p:sp>
      <p:sp>
        <p:nvSpPr>
          <p:cNvPr id="3" name="Text 1"/>
          <p:cNvSpPr txBox="1"/>
          <p:nvPr/>
        </p:nvSpPr>
        <p:spPr>
          <a:xfrm>
            <a:off x="548640" y="749808"/>
            <a:ext cx="10972800" cy="914400"/>
          </a:xfrm>
          <a:prstGeom prst="rect">
            <a:avLst/>
          </a:prstGeom>
          <a:noFill/>
          <a:ln/>
        </p:spPr>
        <p:txBody>
          <a:bodyPr wrap="square" lIns="0" tIns="0" rIns="0" bIns="0" rtlCol="0" anchor="ctr"/>
          <a:lstStyle/>
          <a:p>
            <a:pPr indent="0" marL="0">
              <a:lnSpc>
                <a:spcPts val="3360"/>
              </a:lnSpc>
              <a:buNone/>
            </a:pPr>
            <a:r>
              <a:rPr lang="en-US" sz="3200" b="1" dirty="0">
                <a:solidFill>
                  <a:srgbClr val="ECE7DD"/>
                </a:solidFill>
                <a:latin typeface="Cambria" pitchFamily="34" charset="0"/>
                <a:ea typeface="Cambria" pitchFamily="34" charset="-122"/>
                <a:cs typeface="Cambria" pitchFamily="34" charset="-120"/>
              </a:rPr>
              <a:t>Back to the brief — and the rubric</a:t>
            </a:r>
            <a:endParaRPr lang="en-US" sz="3200" dirty="0"/>
          </a:p>
        </p:txBody>
      </p:sp>
      <p:sp>
        <p:nvSpPr>
          <p:cNvPr id="4" name="Text 2"/>
          <p:cNvSpPr txBox="1"/>
          <p:nvPr/>
        </p:nvSpPr>
        <p:spPr>
          <a:xfrm>
            <a:off x="548640" y="1874520"/>
            <a:ext cx="6035040" cy="365760"/>
          </a:xfrm>
          <a:prstGeom prst="rect">
            <a:avLst/>
          </a:prstGeom>
          <a:noFill/>
          <a:ln/>
        </p:spPr>
        <p:txBody>
          <a:bodyPr wrap="square" lIns="0" tIns="0" rIns="0" bIns="0" rtlCol="0" anchor="ctr"/>
          <a:lstStyle/>
          <a:p>
            <a:pPr indent="0" marL="0">
              <a:buNone/>
            </a:pPr>
            <a:r>
              <a:rPr lang="en-US" sz="1500" dirty="0">
                <a:solidFill>
                  <a:srgbClr val="C9A86A"/>
                </a:solidFill>
                <a:latin typeface="Calibri" pitchFamily="34" charset="0"/>
                <a:ea typeface="Calibri" pitchFamily="34" charset="-122"/>
                <a:cs typeface="Calibri" pitchFamily="34" charset="-120"/>
              </a:rPr>
              <a:t>◆  </a:t>
            </a:r>
            <a:pPr indent="0" marL="0">
              <a:buNone/>
            </a:pPr>
            <a:r>
              <a:rPr lang="en-US" sz="1500" b="1" dirty="0">
                <a:solidFill>
                  <a:srgbClr val="ECE7DD"/>
                </a:solidFill>
                <a:latin typeface="Calibri" pitchFamily="34" charset="0"/>
                <a:ea typeface="Calibri" pitchFamily="34" charset="-122"/>
                <a:cs typeface="Calibri" pitchFamily="34" charset="-120"/>
              </a:rPr>
              <a:t>Signal → understanding → decision</a:t>
            </a:r>
            <a:endParaRPr lang="en-US" sz="1500" dirty="0"/>
          </a:p>
        </p:txBody>
      </p:sp>
      <p:sp>
        <p:nvSpPr>
          <p:cNvPr id="5" name="Text 3"/>
          <p:cNvSpPr txBox="1"/>
          <p:nvPr/>
        </p:nvSpPr>
        <p:spPr>
          <a:xfrm>
            <a:off x="868680" y="2240280"/>
            <a:ext cx="5852160" cy="502920"/>
          </a:xfrm>
          <a:prstGeom prst="rect">
            <a:avLst/>
          </a:prstGeom>
          <a:noFill/>
          <a:ln/>
        </p:spPr>
        <p:txBody>
          <a:bodyPr wrap="square" lIns="0" tIns="0" rIns="0" bIns="0" rtlCol="0" anchor="ctr"/>
          <a:lstStyle/>
          <a:p>
            <a:pPr indent="0" marL="0">
              <a:lnSpc>
                <a:spcPts val="1600"/>
              </a:lnSpc>
              <a:buNone/>
            </a:pPr>
            <a:r>
              <a:rPr lang="en-US" sz="1250" i="1" dirty="0">
                <a:solidFill>
                  <a:srgbClr val="A7ADBA"/>
                </a:solidFill>
                <a:latin typeface="Calibri" pitchFamily="34" charset="0"/>
                <a:ea typeface="Calibri" pitchFamily="34" charset="-122"/>
                <a:cs typeface="Calibri" pitchFamily="34" charset="-120"/>
              </a:rPr>
              <a:t>the exact advisory flow the brief describes</a:t>
            </a:r>
            <a:endParaRPr lang="en-US" sz="1250" dirty="0"/>
          </a:p>
        </p:txBody>
      </p:sp>
      <p:sp>
        <p:nvSpPr>
          <p:cNvPr id="6" name="Text 4"/>
          <p:cNvSpPr txBox="1"/>
          <p:nvPr/>
        </p:nvSpPr>
        <p:spPr>
          <a:xfrm>
            <a:off x="548640" y="2898648"/>
            <a:ext cx="6035040" cy="365760"/>
          </a:xfrm>
          <a:prstGeom prst="rect">
            <a:avLst/>
          </a:prstGeom>
          <a:noFill/>
          <a:ln/>
        </p:spPr>
        <p:txBody>
          <a:bodyPr wrap="square" lIns="0" tIns="0" rIns="0" bIns="0" rtlCol="0" anchor="ctr"/>
          <a:lstStyle/>
          <a:p>
            <a:pPr indent="0" marL="0">
              <a:buNone/>
            </a:pPr>
            <a:r>
              <a:rPr lang="en-US" sz="1500" dirty="0">
                <a:solidFill>
                  <a:srgbClr val="C9A86A"/>
                </a:solidFill>
                <a:latin typeface="Calibri" pitchFamily="34" charset="0"/>
                <a:ea typeface="Calibri" pitchFamily="34" charset="-122"/>
                <a:cs typeface="Calibri" pitchFamily="34" charset="-120"/>
              </a:rPr>
              <a:t>◆  </a:t>
            </a:r>
            <a:pPr indent="0" marL="0">
              <a:buNone/>
            </a:pPr>
            <a:r>
              <a:rPr lang="en-US" sz="1500" b="1" dirty="0">
                <a:solidFill>
                  <a:srgbClr val="ECE7DD"/>
                </a:solidFill>
                <a:latin typeface="Calibri" pitchFamily="34" charset="0"/>
                <a:ea typeface="Calibri" pitchFamily="34" charset="-122"/>
                <a:cs typeface="Calibri" pitchFamily="34" charset="-120"/>
              </a:rPr>
              <a:t>Deep on 2–3 clients</a:t>
            </a:r>
            <a:endParaRPr lang="en-US" sz="1500" dirty="0"/>
          </a:p>
        </p:txBody>
      </p:sp>
      <p:sp>
        <p:nvSpPr>
          <p:cNvPr id="7" name="Text 5"/>
          <p:cNvSpPr txBox="1"/>
          <p:nvPr/>
        </p:nvSpPr>
        <p:spPr>
          <a:xfrm>
            <a:off x="868680" y="3264408"/>
            <a:ext cx="5852160" cy="502920"/>
          </a:xfrm>
          <a:prstGeom prst="rect">
            <a:avLst/>
          </a:prstGeom>
          <a:noFill/>
          <a:ln/>
        </p:spPr>
        <p:txBody>
          <a:bodyPr wrap="square" lIns="0" tIns="0" rIns="0" bIns="0" rtlCol="0" anchor="ctr"/>
          <a:lstStyle/>
          <a:p>
            <a:pPr indent="0" marL="0">
              <a:lnSpc>
                <a:spcPts val="1600"/>
              </a:lnSpc>
              <a:buNone/>
            </a:pPr>
            <a:r>
              <a:rPr lang="en-US" sz="1250" i="1" dirty="0">
                <a:solidFill>
                  <a:srgbClr val="A7ADBA"/>
                </a:solidFill>
                <a:latin typeface="Calibri" pitchFamily="34" charset="0"/>
                <a:ea typeface="Calibri" pitchFamily="34" charset="-122"/>
                <a:cs typeface="Calibri" pitchFamily="34" charset="-120"/>
              </a:rPr>
              <a:t>Lau (collateral), Cheung (income suitability), Fong (household liquidity)</a:t>
            </a:r>
            <a:endParaRPr lang="en-US" sz="1250" dirty="0"/>
          </a:p>
        </p:txBody>
      </p:sp>
      <p:sp>
        <p:nvSpPr>
          <p:cNvPr id="8" name="Text 6"/>
          <p:cNvSpPr txBox="1"/>
          <p:nvPr/>
        </p:nvSpPr>
        <p:spPr>
          <a:xfrm>
            <a:off x="548640" y="3922776"/>
            <a:ext cx="6035040" cy="365760"/>
          </a:xfrm>
          <a:prstGeom prst="rect">
            <a:avLst/>
          </a:prstGeom>
          <a:noFill/>
          <a:ln/>
        </p:spPr>
        <p:txBody>
          <a:bodyPr wrap="square" lIns="0" tIns="0" rIns="0" bIns="0" rtlCol="0" anchor="ctr"/>
          <a:lstStyle/>
          <a:p>
            <a:pPr indent="0" marL="0">
              <a:buNone/>
            </a:pPr>
            <a:r>
              <a:rPr lang="en-US" sz="1500" dirty="0">
                <a:solidFill>
                  <a:srgbClr val="C9A86A"/>
                </a:solidFill>
                <a:latin typeface="Calibri" pitchFamily="34" charset="0"/>
                <a:ea typeface="Calibri" pitchFamily="34" charset="-122"/>
                <a:cs typeface="Calibri" pitchFamily="34" charset="-120"/>
              </a:rPr>
              <a:t>◆  </a:t>
            </a:r>
            <a:pPr indent="0" marL="0">
              <a:buNone/>
            </a:pPr>
            <a:r>
              <a:rPr lang="en-US" sz="1500" b="1" dirty="0">
                <a:solidFill>
                  <a:srgbClr val="ECE7DD"/>
                </a:solidFill>
                <a:latin typeface="Calibri" pitchFamily="34" charset="0"/>
                <a:ea typeface="Calibri" pitchFamily="34" charset="-122"/>
                <a:cs typeface="Calibri" pitchFamily="34" charset="-120"/>
              </a:rPr>
              <a:t>Grounded in event_log.csv</a:t>
            </a:r>
            <a:endParaRPr lang="en-US" sz="1500" dirty="0"/>
          </a:p>
        </p:txBody>
      </p:sp>
      <p:sp>
        <p:nvSpPr>
          <p:cNvPr id="9" name="Text 7"/>
          <p:cNvSpPr txBox="1"/>
          <p:nvPr/>
        </p:nvSpPr>
        <p:spPr>
          <a:xfrm>
            <a:off x="868680" y="4288536"/>
            <a:ext cx="5852160" cy="502920"/>
          </a:xfrm>
          <a:prstGeom prst="rect">
            <a:avLst/>
          </a:prstGeom>
          <a:noFill/>
          <a:ln/>
        </p:spPr>
        <p:txBody>
          <a:bodyPr wrap="square" lIns="0" tIns="0" rIns="0" bIns="0" rtlCol="0" anchor="ctr"/>
          <a:lstStyle/>
          <a:p>
            <a:pPr indent="0" marL="0">
              <a:lnSpc>
                <a:spcPts val="1600"/>
              </a:lnSpc>
              <a:buNone/>
            </a:pPr>
            <a:r>
              <a:rPr lang="en-US" sz="1250" i="1" dirty="0">
                <a:solidFill>
                  <a:srgbClr val="A7ADBA"/>
                </a:solidFill>
                <a:latin typeface="Calibri" pitchFamily="34" charset="0"/>
                <a:ea typeface="Calibri" pitchFamily="34" charset="-122"/>
                <a:cs typeface="Calibri" pitchFamily="34" charset="-120"/>
              </a:rPr>
              <a:t>the authoritative source — no free-association about 2026</a:t>
            </a:r>
            <a:endParaRPr lang="en-US" sz="1250" dirty="0"/>
          </a:p>
        </p:txBody>
      </p:sp>
      <p:sp>
        <p:nvSpPr>
          <p:cNvPr id="10" name="Text 8"/>
          <p:cNvSpPr txBox="1"/>
          <p:nvPr/>
        </p:nvSpPr>
        <p:spPr>
          <a:xfrm>
            <a:off x="548640" y="4946904"/>
            <a:ext cx="6035040" cy="365760"/>
          </a:xfrm>
          <a:prstGeom prst="rect">
            <a:avLst/>
          </a:prstGeom>
          <a:noFill/>
          <a:ln/>
        </p:spPr>
        <p:txBody>
          <a:bodyPr wrap="square" lIns="0" tIns="0" rIns="0" bIns="0" rtlCol="0" anchor="ctr"/>
          <a:lstStyle/>
          <a:p>
            <a:pPr indent="0" marL="0">
              <a:buNone/>
            </a:pPr>
            <a:r>
              <a:rPr lang="en-US" sz="1500" dirty="0">
                <a:solidFill>
                  <a:srgbClr val="C9A86A"/>
                </a:solidFill>
                <a:latin typeface="Calibri" pitchFamily="34" charset="0"/>
                <a:ea typeface="Calibri" pitchFamily="34" charset="-122"/>
                <a:cs typeface="Calibri" pitchFamily="34" charset="-120"/>
              </a:rPr>
              <a:t>◆  </a:t>
            </a:r>
            <a:pPr indent="0" marL="0">
              <a:buNone/>
            </a:pPr>
            <a:r>
              <a:rPr lang="en-US" sz="1500" b="1" dirty="0">
                <a:solidFill>
                  <a:srgbClr val="ECE7DD"/>
                </a:solidFill>
                <a:latin typeface="Calibri" pitchFamily="34" charset="0"/>
                <a:ea typeface="Calibri" pitchFamily="34" charset="-122"/>
                <a:cs typeface="Calibri" pitchFamily="34" charset="-120"/>
              </a:rPr>
              <a:t>Notices data imperfections</a:t>
            </a:r>
            <a:endParaRPr lang="en-US" sz="1500" dirty="0"/>
          </a:p>
        </p:txBody>
      </p:sp>
      <p:sp>
        <p:nvSpPr>
          <p:cNvPr id="11" name="Text 9"/>
          <p:cNvSpPr txBox="1"/>
          <p:nvPr/>
        </p:nvSpPr>
        <p:spPr>
          <a:xfrm>
            <a:off x="868680" y="5312664"/>
            <a:ext cx="5852160" cy="502920"/>
          </a:xfrm>
          <a:prstGeom prst="rect">
            <a:avLst/>
          </a:prstGeom>
          <a:noFill/>
          <a:ln/>
        </p:spPr>
        <p:txBody>
          <a:bodyPr wrap="square" lIns="0" tIns="0" rIns="0" bIns="0" rtlCol="0" anchor="ctr"/>
          <a:lstStyle/>
          <a:p>
            <a:pPr indent="0" marL="0">
              <a:lnSpc>
                <a:spcPts val="1600"/>
              </a:lnSpc>
              <a:buNone/>
            </a:pPr>
            <a:r>
              <a:rPr lang="en-US" sz="1250" i="1" dirty="0">
                <a:solidFill>
                  <a:srgbClr val="A7ADBA"/>
                </a:solidFill>
                <a:latin typeface="Calibri" pitchFamily="34" charset="0"/>
                <a:ea typeface="Calibri" pitchFamily="34" charset="-122"/>
                <a:cs typeface="Calibri" pitchFamily="34" charset="-120"/>
              </a:rPr>
              <a:t>FX, custody, private-market valuation lag — and says so</a:t>
            </a:r>
            <a:endParaRPr lang="en-US" sz="1250" dirty="0"/>
          </a:p>
        </p:txBody>
      </p:sp>
      <p:sp>
        <p:nvSpPr>
          <p:cNvPr id="12" name="Shape 10"/>
          <p:cNvSpPr/>
          <p:nvPr/>
        </p:nvSpPr>
        <p:spPr>
          <a:xfrm>
            <a:off x="7315200" y="1874520"/>
            <a:ext cx="4343400" cy="4114800"/>
          </a:xfrm>
          <a:prstGeom prst="roundRect">
            <a:avLst>
              <a:gd name="adj" fmla="val 2000"/>
            </a:avLst>
          </a:prstGeom>
          <a:solidFill>
            <a:srgbClr val="16233A"/>
          </a:solidFill>
          <a:ln w="12700">
            <a:solidFill>
              <a:srgbClr val="2A3752"/>
            </a:solidFill>
            <a:prstDash val="solid"/>
          </a:ln>
        </p:spPr>
      </p:sp>
      <p:sp>
        <p:nvSpPr>
          <p:cNvPr id="13" name="Text 11"/>
          <p:cNvSpPr txBox="1"/>
          <p:nvPr/>
        </p:nvSpPr>
        <p:spPr>
          <a:xfrm>
            <a:off x="7589520" y="2103120"/>
            <a:ext cx="3840480" cy="274320"/>
          </a:xfrm>
          <a:prstGeom prst="rect">
            <a:avLst/>
          </a:prstGeom>
          <a:noFill/>
          <a:ln/>
        </p:spPr>
        <p:txBody>
          <a:bodyPr wrap="square" lIns="0" tIns="0" rIns="0" bIns="0" rtlCol="0" anchor="ctr"/>
          <a:lstStyle/>
          <a:p>
            <a:pPr indent="0" marL="0">
              <a:buNone/>
            </a:pPr>
            <a:r>
              <a:rPr lang="en-US" sz="1150" b="1" spc="200" kern="0" dirty="0">
                <a:solidFill>
                  <a:srgbClr val="C9A86A"/>
                </a:solidFill>
                <a:latin typeface="Calibri" pitchFamily="34" charset="0"/>
                <a:ea typeface="Calibri" pitchFamily="34" charset="-122"/>
                <a:cs typeface="Calibri" pitchFamily="34" charset="-120"/>
              </a:rPr>
              <a:t>MAPS TO THE JUDGING RUBRIC</a:t>
            </a:r>
            <a:endParaRPr lang="en-US" sz="1150" dirty="0"/>
          </a:p>
        </p:txBody>
      </p:sp>
      <p:sp>
        <p:nvSpPr>
          <p:cNvPr id="14" name="Text 12"/>
          <p:cNvSpPr txBox="1"/>
          <p:nvPr/>
        </p:nvSpPr>
        <p:spPr>
          <a:xfrm>
            <a:off x="7589520" y="2514600"/>
            <a:ext cx="3840480" cy="320040"/>
          </a:xfrm>
          <a:prstGeom prst="rect">
            <a:avLst/>
          </a:prstGeom>
          <a:noFill/>
          <a:ln/>
        </p:spPr>
        <p:txBody>
          <a:bodyPr wrap="square" lIns="0" tIns="0" rIns="0" bIns="0" rtlCol="0" anchor="ctr"/>
          <a:lstStyle/>
          <a:p>
            <a:pPr indent="0" marL="0">
              <a:buNone/>
            </a:pPr>
            <a:r>
              <a:rPr lang="en-US" sz="1400" b="1" dirty="0">
                <a:solidFill>
                  <a:srgbClr val="ECE7DD"/>
                </a:solidFill>
                <a:latin typeface="Cambria" pitchFamily="34" charset="0"/>
                <a:ea typeface="Cambria" pitchFamily="34" charset="-122"/>
                <a:cs typeface="Cambria" pitchFamily="34" charset="-120"/>
              </a:rPr>
              <a:t>Client-Centric Innovation</a:t>
            </a:r>
            <a:endParaRPr lang="en-US" sz="1400" dirty="0"/>
          </a:p>
        </p:txBody>
      </p:sp>
      <p:sp>
        <p:nvSpPr>
          <p:cNvPr id="15" name="Text 13"/>
          <p:cNvSpPr txBox="1"/>
          <p:nvPr/>
        </p:nvSpPr>
        <p:spPr>
          <a:xfrm>
            <a:off x="7589520" y="2825496"/>
            <a:ext cx="3840480" cy="457200"/>
          </a:xfrm>
          <a:prstGeom prst="rect">
            <a:avLst/>
          </a:prstGeom>
          <a:noFill/>
          <a:ln/>
        </p:spPr>
        <p:txBody>
          <a:bodyPr wrap="square" lIns="0" tIns="0" rIns="0" bIns="0" rtlCol="0" anchor="ctr"/>
          <a:lstStyle/>
          <a:p>
            <a:pPr indent="0" marL="0">
              <a:lnSpc>
                <a:spcPts val="1500"/>
              </a:lnSpc>
              <a:buNone/>
            </a:pPr>
            <a:r>
              <a:rPr lang="en-US" sz="1150" dirty="0">
                <a:solidFill>
                  <a:srgbClr val="A7ADBA"/>
                </a:solidFill>
                <a:latin typeface="Calibri" pitchFamily="34" charset="0"/>
                <a:ea typeface="Calibri" pitchFamily="34" charset="-122"/>
                <a:cs typeface="Calibri" pitchFamily="34" charset="-120"/>
              </a:rPr>
              <a:t>advisory triage across the book</a:t>
            </a:r>
            <a:endParaRPr lang="en-US" sz="1150" dirty="0"/>
          </a:p>
        </p:txBody>
      </p:sp>
      <p:sp>
        <p:nvSpPr>
          <p:cNvPr id="16" name="Text 14"/>
          <p:cNvSpPr txBox="1"/>
          <p:nvPr/>
        </p:nvSpPr>
        <p:spPr>
          <a:xfrm>
            <a:off x="7589520" y="3355848"/>
            <a:ext cx="3840480" cy="320040"/>
          </a:xfrm>
          <a:prstGeom prst="rect">
            <a:avLst/>
          </a:prstGeom>
          <a:noFill/>
          <a:ln/>
        </p:spPr>
        <p:txBody>
          <a:bodyPr wrap="square" lIns="0" tIns="0" rIns="0" bIns="0" rtlCol="0" anchor="ctr"/>
          <a:lstStyle/>
          <a:p>
            <a:pPr indent="0" marL="0">
              <a:buNone/>
            </a:pPr>
            <a:r>
              <a:rPr lang="en-US" sz="1400" b="1" dirty="0">
                <a:solidFill>
                  <a:srgbClr val="ECE7DD"/>
                </a:solidFill>
                <a:latin typeface="Cambria" pitchFamily="34" charset="0"/>
                <a:ea typeface="Cambria" pitchFamily="34" charset="-122"/>
                <a:cs typeface="Cambria" pitchFamily="34" charset="-120"/>
              </a:rPr>
              <a:t>User Experience &amp; Design</a:t>
            </a:r>
            <a:endParaRPr lang="en-US" sz="1400" dirty="0"/>
          </a:p>
        </p:txBody>
      </p:sp>
      <p:sp>
        <p:nvSpPr>
          <p:cNvPr id="17" name="Text 15"/>
          <p:cNvSpPr txBox="1"/>
          <p:nvPr/>
        </p:nvSpPr>
        <p:spPr>
          <a:xfrm>
            <a:off x="7589520" y="3666744"/>
            <a:ext cx="3840480" cy="457200"/>
          </a:xfrm>
          <a:prstGeom prst="rect">
            <a:avLst/>
          </a:prstGeom>
          <a:noFill/>
          <a:ln/>
        </p:spPr>
        <p:txBody>
          <a:bodyPr wrap="square" lIns="0" tIns="0" rIns="0" bIns="0" rtlCol="0" anchor="ctr"/>
          <a:lstStyle/>
          <a:p>
            <a:pPr indent="0" marL="0">
              <a:lnSpc>
                <a:spcPts val="1500"/>
              </a:lnSpc>
              <a:buNone/>
            </a:pPr>
            <a:r>
              <a:rPr lang="en-US" sz="1150" dirty="0">
                <a:solidFill>
                  <a:srgbClr val="A7ADBA"/>
                </a:solidFill>
                <a:latin typeface="Calibri" pitchFamily="34" charset="0"/>
                <a:ea typeface="Calibri" pitchFamily="34" charset="-122"/>
                <a:cs typeface="Calibri" pitchFamily="34" charset="-120"/>
              </a:rPr>
              <a:t>the workbench, 'Why?' on every signal</a:t>
            </a:r>
            <a:endParaRPr lang="en-US" sz="1150" dirty="0"/>
          </a:p>
        </p:txBody>
      </p:sp>
      <p:sp>
        <p:nvSpPr>
          <p:cNvPr id="18" name="Text 16"/>
          <p:cNvSpPr txBox="1"/>
          <p:nvPr/>
        </p:nvSpPr>
        <p:spPr>
          <a:xfrm>
            <a:off x="7589520" y="4197096"/>
            <a:ext cx="3840480" cy="320040"/>
          </a:xfrm>
          <a:prstGeom prst="rect">
            <a:avLst/>
          </a:prstGeom>
          <a:noFill/>
          <a:ln/>
        </p:spPr>
        <p:txBody>
          <a:bodyPr wrap="square" lIns="0" tIns="0" rIns="0" bIns="0" rtlCol="0" anchor="ctr"/>
          <a:lstStyle/>
          <a:p>
            <a:pPr indent="0" marL="0">
              <a:buNone/>
            </a:pPr>
            <a:r>
              <a:rPr lang="en-US" sz="1400" b="1" dirty="0">
                <a:solidFill>
                  <a:srgbClr val="ECE7DD"/>
                </a:solidFill>
                <a:latin typeface="Cambria" pitchFamily="34" charset="0"/>
                <a:ea typeface="Cambria" pitchFamily="34" charset="-122"/>
                <a:cs typeface="Cambria" pitchFamily="34" charset="-120"/>
              </a:rPr>
              <a:t>Technical &amp; Operational Feasibility</a:t>
            </a:r>
            <a:endParaRPr lang="en-US" sz="1400" dirty="0"/>
          </a:p>
        </p:txBody>
      </p:sp>
      <p:sp>
        <p:nvSpPr>
          <p:cNvPr id="19" name="Text 17"/>
          <p:cNvSpPr txBox="1"/>
          <p:nvPr/>
        </p:nvSpPr>
        <p:spPr>
          <a:xfrm>
            <a:off x="7589520" y="4507992"/>
            <a:ext cx="3840480" cy="457200"/>
          </a:xfrm>
          <a:prstGeom prst="rect">
            <a:avLst/>
          </a:prstGeom>
          <a:noFill/>
          <a:ln/>
        </p:spPr>
        <p:txBody>
          <a:bodyPr wrap="square" lIns="0" tIns="0" rIns="0" bIns="0" rtlCol="0" anchor="ctr"/>
          <a:lstStyle/>
          <a:p>
            <a:pPr indent="0" marL="0">
              <a:lnSpc>
                <a:spcPts val="1500"/>
              </a:lnSpc>
              <a:buNone/>
            </a:pPr>
            <a:r>
              <a:rPr lang="en-US" sz="1150" dirty="0">
                <a:solidFill>
                  <a:srgbClr val="A7ADBA"/>
                </a:solidFill>
                <a:latin typeface="Calibri" pitchFamily="34" charset="0"/>
                <a:ea typeface="Calibri" pitchFamily="34" charset="-122"/>
                <a:cs typeface="Calibri" pitchFamily="34" charset="-120"/>
              </a:rPr>
              <a:t>deterministic, auditable, containerised</a:t>
            </a:r>
            <a:endParaRPr lang="en-US" sz="1150" dirty="0"/>
          </a:p>
        </p:txBody>
      </p:sp>
      <p:sp>
        <p:nvSpPr>
          <p:cNvPr id="20" name="Text 18"/>
          <p:cNvSpPr txBox="1"/>
          <p:nvPr/>
        </p:nvSpPr>
        <p:spPr>
          <a:xfrm>
            <a:off x="7589520" y="5038344"/>
            <a:ext cx="3840480" cy="320040"/>
          </a:xfrm>
          <a:prstGeom prst="rect">
            <a:avLst/>
          </a:prstGeom>
          <a:noFill/>
          <a:ln/>
        </p:spPr>
        <p:txBody>
          <a:bodyPr wrap="square" lIns="0" tIns="0" rIns="0" bIns="0" rtlCol="0" anchor="ctr"/>
          <a:lstStyle/>
          <a:p>
            <a:pPr indent="0" marL="0">
              <a:buNone/>
            </a:pPr>
            <a:r>
              <a:rPr lang="en-US" sz="1400" b="1" dirty="0">
                <a:solidFill>
                  <a:srgbClr val="ECE7DD"/>
                </a:solidFill>
                <a:latin typeface="Cambria" pitchFamily="34" charset="0"/>
                <a:ea typeface="Cambria" pitchFamily="34" charset="-122"/>
                <a:cs typeface="Cambria" pitchFamily="34" charset="-120"/>
              </a:rPr>
              <a:t>Strategic Impact</a:t>
            </a:r>
            <a:endParaRPr lang="en-US" sz="1400" dirty="0"/>
          </a:p>
        </p:txBody>
      </p:sp>
      <p:sp>
        <p:nvSpPr>
          <p:cNvPr id="21" name="Text 19"/>
          <p:cNvSpPr txBox="1"/>
          <p:nvPr/>
        </p:nvSpPr>
        <p:spPr>
          <a:xfrm>
            <a:off x="7589520" y="5349240"/>
            <a:ext cx="3840480" cy="457200"/>
          </a:xfrm>
          <a:prstGeom prst="rect">
            <a:avLst/>
          </a:prstGeom>
          <a:noFill/>
          <a:ln/>
        </p:spPr>
        <p:txBody>
          <a:bodyPr wrap="square" lIns="0" tIns="0" rIns="0" bIns="0" rtlCol="0" anchor="ctr"/>
          <a:lstStyle/>
          <a:p>
            <a:pPr indent="0" marL="0">
              <a:lnSpc>
                <a:spcPts val="1500"/>
              </a:lnSpc>
              <a:buNone/>
            </a:pPr>
            <a:r>
              <a:rPr lang="en-US" sz="1150" dirty="0">
                <a:solidFill>
                  <a:srgbClr val="A7ADBA"/>
                </a:solidFill>
                <a:latin typeface="Calibri" pitchFamily="34" charset="0"/>
                <a:ea typeface="Calibri" pitchFamily="34" charset="-122"/>
                <a:cs typeface="Calibri" pitchFamily="34" charset="-120"/>
              </a:rPr>
              <a:t>modern JB, RM kept central</a:t>
            </a:r>
            <a:endParaRPr lang="en-US" sz="1150" dirty="0"/>
          </a:p>
        </p:txBody>
      </p:sp>
      <p:sp>
        <p:nvSpPr>
          <p:cNvPr id="22" name="Text 2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7C8492"/>
                </a:solidFill>
                <a:latin typeface="Calibri" pitchFamily="34" charset="0"/>
                <a:ea typeface="Calibri" pitchFamily="34" charset="-122"/>
                <a:cs typeface="Calibri" pitchFamily="34" charset="-120"/>
              </a:rPr>
              <a:t>Wealth Intelligence · Julius Baer · Track #1</a:t>
            </a:r>
            <a:endParaRPr lang="en-US" sz="900" dirty="0"/>
          </a:p>
        </p:txBody>
      </p:sp>
      <p:sp>
        <p:nvSpPr>
          <p:cNvPr id="23" name="Text 21"/>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7C849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320"/>
        </a:solidFill>
      </p:bgPr>
    </p:bg>
    <p:spTree>
      <p:nvGrpSpPr>
        <p:cNvPr id="1" name=""/>
        <p:cNvGrpSpPr/>
        <p:nvPr/>
      </p:nvGrpSpPr>
      <p:grpSpPr>
        <a:xfrm>
          <a:off x="0" y="0"/>
          <a:ext cx="0" cy="0"/>
          <a:chOff x="0" y="0"/>
          <a:chExt cx="0" cy="0"/>
        </a:xfrm>
      </p:grpSpPr>
      <p:sp>
        <p:nvSpPr>
          <p:cNvPr id="2" name="Text 0"/>
          <p:cNvSpPr txBox="1"/>
          <p:nvPr/>
        </p:nvSpPr>
        <p:spPr>
          <a:xfrm>
            <a:off x="566928" y="457200"/>
            <a:ext cx="9144000" cy="274320"/>
          </a:xfrm>
          <a:prstGeom prst="rect">
            <a:avLst/>
          </a:prstGeom>
          <a:noFill/>
          <a:ln/>
        </p:spPr>
        <p:txBody>
          <a:bodyPr wrap="square" lIns="0" tIns="0" rIns="0" bIns="0" rtlCol="0" anchor="ctr"/>
          <a:lstStyle/>
          <a:p>
            <a:pPr indent="0" marL="0">
              <a:buNone/>
            </a:pPr>
            <a:r>
              <a:rPr lang="en-US" sz="1150" b="1" spc="300" kern="0" dirty="0">
                <a:solidFill>
                  <a:srgbClr val="C9A86A"/>
                </a:solidFill>
                <a:latin typeface="Calibri" pitchFamily="34" charset="0"/>
                <a:ea typeface="Calibri" pitchFamily="34" charset="-122"/>
                <a:cs typeface="Calibri" pitchFamily="34" charset="-120"/>
              </a:rPr>
              <a:t>HOW IT WORKS · WHAT COULD HAPPEN NEXT</a:t>
            </a:r>
            <a:endParaRPr lang="en-US" sz="1150" dirty="0"/>
          </a:p>
        </p:txBody>
      </p:sp>
      <p:sp>
        <p:nvSpPr>
          <p:cNvPr id="3" name="Text 1"/>
          <p:cNvSpPr txBox="1"/>
          <p:nvPr/>
        </p:nvSpPr>
        <p:spPr>
          <a:xfrm>
            <a:off x="548640" y="749808"/>
            <a:ext cx="10972800" cy="914400"/>
          </a:xfrm>
          <a:prstGeom prst="rect">
            <a:avLst/>
          </a:prstGeom>
          <a:noFill/>
          <a:ln/>
        </p:spPr>
        <p:txBody>
          <a:bodyPr wrap="square" lIns="0" tIns="0" rIns="0" bIns="0" rtlCol="0" anchor="ctr"/>
          <a:lstStyle/>
          <a:p>
            <a:pPr indent="0" marL="0">
              <a:lnSpc>
                <a:spcPts val="3360"/>
              </a:lnSpc>
              <a:buNone/>
            </a:pPr>
            <a:r>
              <a:rPr lang="en-US" sz="3200" b="1" dirty="0">
                <a:solidFill>
                  <a:srgbClr val="ECE7DD"/>
                </a:solidFill>
                <a:latin typeface="Cambria" pitchFamily="34" charset="0"/>
                <a:ea typeface="Cambria" pitchFamily="34" charset="-122"/>
                <a:cs typeface="Cambria" pitchFamily="34" charset="-120"/>
              </a:rPr>
              <a:t>Scenario toggle — forward-looking, still deterministic</a:t>
            </a:r>
            <a:endParaRPr lang="en-US" sz="3200" dirty="0"/>
          </a:p>
        </p:txBody>
      </p:sp>
      <p:pic>
        <p:nvPicPr>
          <p:cNvPr id="4" name="Image 0" descr="/tmp/claude-0/-home-user-juliusbaer/ce358b8c-70a4-5ca7-9728-984bd98dfdd2/scratchpad/deck_scenario.png">    </p:cNvPr>
          <p:cNvPicPr>
            <a:picLocks noChangeAspect="1"/>
          </p:cNvPicPr>
          <p:nvPr/>
        </p:nvPicPr>
        <p:blipFill>
          <a:blip r:embed="rId1"/>
          <a:stretch>
            <a:fillRect/>
          </a:stretch>
        </p:blipFill>
        <p:spPr>
          <a:xfrm>
            <a:off x="548640" y="1691640"/>
            <a:ext cx="8412480" cy="5842000"/>
          </a:xfrm>
          <a:prstGeom prst="ellipse">
            <a:avLst/>
          </a:prstGeom>
        </p:spPr>
      </p:pic>
      <p:sp>
        <p:nvSpPr>
          <p:cNvPr id="5" name="Text 2"/>
          <p:cNvSpPr txBox="1"/>
          <p:nvPr/>
        </p:nvSpPr>
        <p:spPr>
          <a:xfrm>
            <a:off x="9144000" y="1783080"/>
            <a:ext cx="2697480" cy="457200"/>
          </a:xfrm>
          <a:prstGeom prst="rect">
            <a:avLst/>
          </a:prstGeom>
          <a:noFill/>
          <a:ln/>
        </p:spPr>
        <p:txBody>
          <a:bodyPr wrap="square" lIns="0" tIns="0" rIns="0" bIns="0" rtlCol="0" anchor="ctr"/>
          <a:lstStyle/>
          <a:p>
            <a:pPr indent="0" marL="0">
              <a:lnSpc>
                <a:spcPts val="1700"/>
              </a:lnSpc>
              <a:buNone/>
            </a:pPr>
            <a:r>
              <a:rPr lang="en-US" sz="1400" b="1" dirty="0">
                <a:solidFill>
                  <a:srgbClr val="C9A86A"/>
                </a:solidFill>
                <a:latin typeface="Cambria" pitchFamily="34" charset="0"/>
                <a:ea typeface="Cambria" pitchFamily="34" charset="-122"/>
                <a:cs typeface="Cambria" pitchFamily="34" charset="-120"/>
              </a:rPr>
              <a:t>De-escalation · Today · Escalation</a:t>
            </a:r>
            <a:endParaRPr lang="en-US" sz="1400" dirty="0"/>
          </a:p>
        </p:txBody>
      </p:sp>
      <p:sp>
        <p:nvSpPr>
          <p:cNvPr id="6" name="Text 3"/>
          <p:cNvSpPr txBox="1"/>
          <p:nvPr/>
        </p:nvSpPr>
        <p:spPr>
          <a:xfrm>
            <a:off x="9144000" y="2286000"/>
            <a:ext cx="2697480" cy="777240"/>
          </a:xfrm>
          <a:prstGeom prst="rect">
            <a:avLst/>
          </a:prstGeom>
          <a:noFill/>
          <a:ln/>
        </p:spPr>
        <p:txBody>
          <a:bodyPr wrap="square" lIns="0" tIns="0" rIns="0" bIns="0" rtlCol="0" anchor="ctr"/>
          <a:lstStyle/>
          <a:p>
            <a:pPr indent="0" marL="0">
              <a:lnSpc>
                <a:spcPts val="1500"/>
              </a:lnSpc>
              <a:buNone/>
            </a:pPr>
            <a:r>
              <a:rPr lang="en-US" sz="1150" dirty="0">
                <a:solidFill>
                  <a:srgbClr val="A7ADBA"/>
                </a:solidFill>
                <a:latin typeface="Calibri" pitchFamily="34" charset="0"/>
                <a:ea typeface="Calibri" pitchFamily="34" charset="-122"/>
                <a:cs typeface="Calibri" pitchFamily="34" charset="-120"/>
              </a:rPr>
              <a:t>One toggle re-prices every holding under a market shock.</a:t>
            </a:r>
            <a:endParaRPr lang="en-US" sz="1150" dirty="0"/>
          </a:p>
        </p:txBody>
      </p:sp>
      <p:sp>
        <p:nvSpPr>
          <p:cNvPr id="7" name="Text 4"/>
          <p:cNvSpPr txBox="1"/>
          <p:nvPr/>
        </p:nvSpPr>
        <p:spPr>
          <a:xfrm>
            <a:off x="9144000" y="2953512"/>
            <a:ext cx="2697480" cy="457200"/>
          </a:xfrm>
          <a:prstGeom prst="rect">
            <a:avLst/>
          </a:prstGeom>
          <a:noFill/>
          <a:ln/>
        </p:spPr>
        <p:txBody>
          <a:bodyPr wrap="square" lIns="0" tIns="0" rIns="0" bIns="0" rtlCol="0" anchor="ctr"/>
          <a:lstStyle/>
          <a:p>
            <a:pPr indent="0" marL="0">
              <a:lnSpc>
                <a:spcPts val="1700"/>
              </a:lnSpc>
              <a:buNone/>
            </a:pPr>
            <a:r>
              <a:rPr lang="en-US" sz="1400" b="1" dirty="0">
                <a:solidFill>
                  <a:srgbClr val="C9A86A"/>
                </a:solidFill>
                <a:latin typeface="Cambria" pitchFamily="34" charset="0"/>
                <a:ea typeface="Cambria" pitchFamily="34" charset="-122"/>
                <a:cs typeface="Cambria" pitchFamily="34" charset="-120"/>
              </a:rPr>
              <a:t>The gauge crosses the line</a:t>
            </a:r>
            <a:endParaRPr lang="en-US" sz="1400" dirty="0"/>
          </a:p>
        </p:txBody>
      </p:sp>
      <p:sp>
        <p:nvSpPr>
          <p:cNvPr id="8" name="Text 5"/>
          <p:cNvSpPr txBox="1"/>
          <p:nvPr/>
        </p:nvSpPr>
        <p:spPr>
          <a:xfrm>
            <a:off x="9144000" y="3456432"/>
            <a:ext cx="2697480" cy="777240"/>
          </a:xfrm>
          <a:prstGeom prst="rect">
            <a:avLst/>
          </a:prstGeom>
          <a:noFill/>
          <a:ln/>
        </p:spPr>
        <p:txBody>
          <a:bodyPr wrap="square" lIns="0" tIns="0" rIns="0" bIns="0" rtlCol="0" anchor="ctr"/>
          <a:lstStyle/>
          <a:p>
            <a:pPr indent="0" marL="0">
              <a:lnSpc>
                <a:spcPts val="1500"/>
              </a:lnSpc>
              <a:buNone/>
            </a:pPr>
            <a:r>
              <a:rPr lang="en-US" sz="1150" dirty="0">
                <a:solidFill>
                  <a:srgbClr val="A7ADBA"/>
                </a:solidFill>
                <a:latin typeface="Calibri" pitchFamily="34" charset="0"/>
                <a:ea typeface="Calibri" pitchFamily="34" charset="-122"/>
                <a:cs typeface="Calibri" pitchFamily="34" charset="-120"/>
              </a:rPr>
              <a:t>Under Escalation, Lau's LTV 69.4% → 70.4% — margin call breached.</a:t>
            </a:r>
            <a:endParaRPr lang="en-US" sz="1150" dirty="0"/>
          </a:p>
        </p:txBody>
      </p:sp>
      <p:sp>
        <p:nvSpPr>
          <p:cNvPr id="9" name="Text 6"/>
          <p:cNvSpPr txBox="1"/>
          <p:nvPr/>
        </p:nvSpPr>
        <p:spPr>
          <a:xfrm>
            <a:off x="9144000" y="4123944"/>
            <a:ext cx="2697480" cy="457200"/>
          </a:xfrm>
          <a:prstGeom prst="rect">
            <a:avLst/>
          </a:prstGeom>
          <a:noFill/>
          <a:ln/>
        </p:spPr>
        <p:txBody>
          <a:bodyPr wrap="square" lIns="0" tIns="0" rIns="0" bIns="0" rtlCol="0" anchor="ctr"/>
          <a:lstStyle/>
          <a:p>
            <a:pPr indent="0" marL="0">
              <a:lnSpc>
                <a:spcPts val="1700"/>
              </a:lnSpc>
              <a:buNone/>
            </a:pPr>
            <a:r>
              <a:rPr lang="en-US" sz="1400" b="1" dirty="0">
                <a:solidFill>
                  <a:srgbClr val="C9A86A"/>
                </a:solidFill>
                <a:latin typeface="Cambria" pitchFamily="34" charset="0"/>
                <a:ea typeface="Cambria" pitchFamily="34" charset="-122"/>
                <a:cs typeface="Cambria" pitchFamily="34" charset="-120"/>
              </a:rPr>
              <a:t>The book re-ranks</a:t>
            </a:r>
            <a:endParaRPr lang="en-US" sz="1400" dirty="0"/>
          </a:p>
        </p:txBody>
      </p:sp>
      <p:sp>
        <p:nvSpPr>
          <p:cNvPr id="10" name="Text 7"/>
          <p:cNvSpPr txBox="1"/>
          <p:nvPr/>
        </p:nvSpPr>
        <p:spPr>
          <a:xfrm>
            <a:off x="9144000" y="4626864"/>
            <a:ext cx="2697480" cy="777240"/>
          </a:xfrm>
          <a:prstGeom prst="rect">
            <a:avLst/>
          </a:prstGeom>
          <a:noFill/>
          <a:ln/>
        </p:spPr>
        <p:txBody>
          <a:bodyPr wrap="square" lIns="0" tIns="0" rIns="0" bIns="0" rtlCol="0" anchor="ctr"/>
          <a:lstStyle/>
          <a:p>
            <a:pPr indent="0" marL="0">
              <a:lnSpc>
                <a:spcPts val="1500"/>
              </a:lnSpc>
              <a:buNone/>
            </a:pPr>
            <a:r>
              <a:rPr lang="en-US" sz="1150" dirty="0">
                <a:solidFill>
                  <a:srgbClr val="A7ADBA"/>
                </a:solidFill>
                <a:latin typeface="Calibri" pitchFamily="34" charset="0"/>
                <a:ea typeface="Calibri" pitchFamily="34" charset="-122"/>
                <a:cs typeface="Calibri" pitchFamily="34" charset="-120"/>
              </a:rPr>
              <a:t>Ordered by scenario stress; who is newly at risk rises to the top.</a:t>
            </a:r>
            <a:endParaRPr lang="en-US" sz="1150" dirty="0"/>
          </a:p>
        </p:txBody>
      </p:sp>
      <p:sp>
        <p:nvSpPr>
          <p:cNvPr id="11" name="Text 8"/>
          <p:cNvSpPr txBox="1"/>
          <p:nvPr/>
        </p:nvSpPr>
        <p:spPr>
          <a:xfrm>
            <a:off x="9144000" y="5294376"/>
            <a:ext cx="2697480" cy="457200"/>
          </a:xfrm>
          <a:prstGeom prst="rect">
            <a:avLst/>
          </a:prstGeom>
          <a:noFill/>
          <a:ln/>
        </p:spPr>
        <p:txBody>
          <a:bodyPr wrap="square" lIns="0" tIns="0" rIns="0" bIns="0" rtlCol="0" anchor="ctr"/>
          <a:lstStyle/>
          <a:p>
            <a:pPr indent="0" marL="0">
              <a:lnSpc>
                <a:spcPts val="1700"/>
              </a:lnSpc>
              <a:buNone/>
            </a:pPr>
            <a:r>
              <a:rPr lang="en-US" sz="1400" b="1" dirty="0">
                <a:solidFill>
                  <a:srgbClr val="C9A86A"/>
                </a:solidFill>
                <a:latin typeface="Cambria" pitchFamily="34" charset="0"/>
                <a:ea typeface="Cambria" pitchFamily="34" charset="-122"/>
                <a:cs typeface="Cambria" pitchFamily="34" charset="-120"/>
              </a:rPr>
              <a:t>Still auditable</a:t>
            </a:r>
            <a:endParaRPr lang="en-US" sz="1400" dirty="0"/>
          </a:p>
        </p:txBody>
      </p:sp>
      <p:sp>
        <p:nvSpPr>
          <p:cNvPr id="12" name="Text 9"/>
          <p:cNvSpPr txBox="1"/>
          <p:nvPr/>
        </p:nvSpPr>
        <p:spPr>
          <a:xfrm>
            <a:off x="9144000" y="5797296"/>
            <a:ext cx="2697480" cy="777240"/>
          </a:xfrm>
          <a:prstGeom prst="rect">
            <a:avLst/>
          </a:prstGeom>
          <a:noFill/>
          <a:ln/>
        </p:spPr>
        <p:txBody>
          <a:bodyPr wrap="square" lIns="0" tIns="0" rIns="0" bIns="0" rtlCol="0" anchor="ctr"/>
          <a:lstStyle/>
          <a:p>
            <a:pPr indent="0" marL="0">
              <a:lnSpc>
                <a:spcPts val="1500"/>
              </a:lnSpc>
              <a:buNone/>
            </a:pPr>
            <a:r>
              <a:rPr lang="en-US" sz="1150" dirty="0">
                <a:solidFill>
                  <a:srgbClr val="A7ADBA"/>
                </a:solidFill>
                <a:latin typeface="Calibri" pitchFamily="34" charset="0"/>
                <a:ea typeface="Calibri" pitchFamily="34" charset="-122"/>
                <a:cs typeface="Calibri" pitchFamily="34" charset="-120"/>
              </a:rPr>
              <a:t>The shock vector and sensitivities are computed and shown — never by the model.</a:t>
            </a:r>
            <a:endParaRPr lang="en-US" sz="1150" dirty="0"/>
          </a:p>
        </p:txBody>
      </p:sp>
      <p:sp>
        <p:nvSpPr>
          <p:cNvPr id="13" name="Text 1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7C8492"/>
                </a:solidFill>
                <a:latin typeface="Calibri" pitchFamily="34" charset="0"/>
                <a:ea typeface="Calibri" pitchFamily="34" charset="-122"/>
                <a:cs typeface="Calibri" pitchFamily="34" charset="-120"/>
              </a:rPr>
              <a:t>Wealth Intelligence · Julius Baer · Track #1</a:t>
            </a:r>
            <a:endParaRPr lang="en-US" sz="900" dirty="0"/>
          </a:p>
        </p:txBody>
      </p:sp>
      <p:sp>
        <p:nvSpPr>
          <p:cNvPr id="14" name="Text 11"/>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7C849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11C"/>
        </a:solidFill>
      </p:bgPr>
    </p:bg>
    <p:spTree>
      <p:nvGrpSpPr>
        <p:cNvPr id="1" name=""/>
        <p:cNvGrpSpPr/>
        <p:nvPr/>
      </p:nvGrpSpPr>
      <p:grpSpPr>
        <a:xfrm>
          <a:off x="0" y="0"/>
          <a:ext cx="0" cy="0"/>
          <a:chOff x="0" y="0"/>
          <a:chExt cx="0" cy="0"/>
        </a:xfrm>
      </p:grpSpPr>
      <p:sp>
        <p:nvSpPr>
          <p:cNvPr id="2" name="Shape 0"/>
          <p:cNvSpPr/>
          <p:nvPr/>
        </p:nvSpPr>
        <p:spPr>
          <a:xfrm rot="1440000">
            <a:off x="7680960" y="594360"/>
            <a:ext cx="4754880" cy="1920240"/>
          </a:xfrm>
          <a:prstGeom prst="ellipse">
            <a:avLst/>
          </a:prstGeom>
          <a:ln w="17780">
            <a:solidFill>
              <a:srgbClr val="C9A86A">
                <a:alpha val="55000"/>
              </a:srgbClr>
            </a:solidFill>
            <a:prstDash val="solid"/>
          </a:ln>
        </p:spPr>
      </p:sp>
      <p:sp>
        <p:nvSpPr>
          <p:cNvPr id="3" name="Shape 1"/>
          <p:cNvSpPr/>
          <p:nvPr/>
        </p:nvSpPr>
        <p:spPr>
          <a:xfrm rot="-1800000">
            <a:off x="7680960" y="594360"/>
            <a:ext cx="4754880" cy="1920240"/>
          </a:xfrm>
          <a:prstGeom prst="ellipse">
            <a:avLst/>
          </a:prstGeom>
          <a:ln w="13970">
            <a:solidFill>
              <a:srgbClr val="7F9BB3">
                <a:alpha val="55000"/>
              </a:srgbClr>
            </a:solidFill>
            <a:prstDash val="solid"/>
          </a:ln>
        </p:spPr>
      </p:sp>
      <p:sp>
        <p:nvSpPr>
          <p:cNvPr id="4" name="Text 2"/>
          <p:cNvSpPr txBox="1"/>
          <p:nvPr/>
        </p:nvSpPr>
        <p:spPr>
          <a:xfrm>
            <a:off x="822960" y="1371600"/>
            <a:ext cx="9144000" cy="274320"/>
          </a:xfrm>
          <a:prstGeom prst="rect">
            <a:avLst/>
          </a:prstGeom>
          <a:noFill/>
          <a:ln/>
        </p:spPr>
        <p:txBody>
          <a:bodyPr wrap="square" lIns="0" tIns="0" rIns="0" bIns="0" rtlCol="0" anchor="ctr"/>
          <a:lstStyle/>
          <a:p>
            <a:pPr indent="0" marL="0">
              <a:buNone/>
            </a:pPr>
            <a:r>
              <a:rPr lang="en-US" sz="1150" b="1" spc="300" kern="0" dirty="0">
                <a:solidFill>
                  <a:srgbClr val="C9A86A"/>
                </a:solidFill>
                <a:latin typeface="Calibri" pitchFamily="34" charset="0"/>
                <a:ea typeface="Calibri" pitchFamily="34" charset="-122"/>
                <a:cs typeface="Calibri" pitchFamily="34" charset="-120"/>
              </a:rPr>
              <a:t>THE NORTH STAR</a:t>
            </a:r>
            <a:endParaRPr lang="en-US" sz="1150" dirty="0"/>
          </a:p>
        </p:txBody>
      </p:sp>
      <p:sp>
        <p:nvSpPr>
          <p:cNvPr id="5" name="Text 3"/>
          <p:cNvSpPr txBox="1"/>
          <p:nvPr/>
        </p:nvSpPr>
        <p:spPr>
          <a:xfrm>
            <a:off x="777240" y="1920240"/>
            <a:ext cx="10515600" cy="1554480"/>
          </a:xfrm>
          <a:prstGeom prst="rect">
            <a:avLst/>
          </a:prstGeom>
          <a:noFill/>
          <a:ln/>
        </p:spPr>
        <p:txBody>
          <a:bodyPr wrap="square" lIns="0" tIns="0" rIns="0" bIns="0" rtlCol="0" anchor="ctr"/>
          <a:lstStyle/>
          <a:p>
            <a:pPr indent="0" marL="0">
              <a:lnSpc>
                <a:spcPts val="4000"/>
              </a:lnSpc>
              <a:buNone/>
            </a:pPr>
            <a:r>
              <a:rPr lang="en-US" sz="3400" b="1" dirty="0">
                <a:solidFill>
                  <a:srgbClr val="ECE7DD"/>
                </a:solidFill>
                <a:latin typeface="Cambria" pitchFamily="34" charset="0"/>
                <a:ea typeface="Cambria" pitchFamily="34" charset="-122"/>
                <a:cs typeface="Cambria" pitchFamily="34" charset="-120"/>
              </a:rPr>
              <a:t>Build the intelligence layer between</a:t>
            </a:r>
            <a:endParaRPr lang="en-US" sz="3400" dirty="0"/>
          </a:p>
          <a:p>
            <a:pPr indent="0" marL="0">
              <a:lnSpc>
                <a:spcPts val="4000"/>
              </a:lnSpc>
              <a:buNone/>
            </a:pPr>
            <a:r>
              <a:rPr lang="en-US" sz="3400" b="1" dirty="0">
                <a:solidFill>
                  <a:srgbClr val="ECE7DD"/>
                </a:solidFill>
                <a:latin typeface="Cambria" pitchFamily="34" charset="0"/>
                <a:ea typeface="Cambria" pitchFamily="34" charset="-122"/>
                <a:cs typeface="Cambria" pitchFamily="34" charset="-120"/>
              </a:rPr>
              <a:t>portfolio data and the Relationship Manager.</a:t>
            </a:r>
            <a:endParaRPr lang="en-US" sz="3400" dirty="0"/>
          </a:p>
        </p:txBody>
      </p:sp>
      <p:sp>
        <p:nvSpPr>
          <p:cNvPr id="6" name="Text 4"/>
          <p:cNvSpPr txBox="1"/>
          <p:nvPr/>
        </p:nvSpPr>
        <p:spPr>
          <a:xfrm>
            <a:off x="822960" y="3611880"/>
            <a:ext cx="8961120" cy="1005840"/>
          </a:xfrm>
          <a:prstGeom prst="rect">
            <a:avLst/>
          </a:prstGeom>
          <a:noFill/>
          <a:ln/>
        </p:spPr>
        <p:txBody>
          <a:bodyPr wrap="square" lIns="0" tIns="0" rIns="0" bIns="0" rtlCol="0" anchor="ctr"/>
          <a:lstStyle/>
          <a:p>
            <a:pPr indent="0" marL="0">
              <a:lnSpc>
                <a:spcPts val="2300"/>
              </a:lnSpc>
              <a:buNone/>
            </a:pPr>
            <a:r>
              <a:rPr lang="en-US" sz="1500" dirty="0">
                <a:solidFill>
                  <a:srgbClr val="A7ADBA"/>
                </a:solidFill>
                <a:latin typeface="Calibri" pitchFamily="34" charset="0"/>
                <a:ea typeface="Calibri" pitchFamily="34" charset="-122"/>
                <a:cs typeface="Calibri" pitchFamily="34" charset="-120"/>
              </a:rPr>
              <a:t>Help RMs understand what matters, anticipate what may happen next, and turn complex portfolios into timely, personalised, trustworthy advice — while the RM stays central, and owns every decision.</a:t>
            </a:r>
            <a:endParaRPr lang="en-US" sz="1500" dirty="0"/>
          </a:p>
        </p:txBody>
      </p:sp>
      <p:sp>
        <p:nvSpPr>
          <p:cNvPr id="7" name="Text 5"/>
          <p:cNvSpPr txBox="1"/>
          <p:nvPr/>
        </p:nvSpPr>
        <p:spPr>
          <a:xfrm>
            <a:off x="822960" y="4800600"/>
            <a:ext cx="4572000" cy="274320"/>
          </a:xfrm>
          <a:prstGeom prst="rect">
            <a:avLst/>
          </a:prstGeom>
          <a:noFill/>
          <a:ln/>
        </p:spPr>
        <p:txBody>
          <a:bodyPr wrap="square" lIns="0" tIns="0" rIns="0" bIns="0" rtlCol="0" anchor="ctr"/>
          <a:lstStyle/>
          <a:p>
            <a:pPr indent="0" marL="0">
              <a:buNone/>
            </a:pPr>
            <a:r>
              <a:rPr lang="en-US" sz="1150" b="1" spc="200" kern="0" dirty="0">
                <a:solidFill>
                  <a:srgbClr val="C9A86A"/>
                </a:solidFill>
                <a:latin typeface="Calibri" pitchFamily="34" charset="0"/>
                <a:ea typeface="Calibri" pitchFamily="34" charset="-122"/>
                <a:cs typeface="Calibri" pitchFamily="34" charset="-120"/>
              </a:rPr>
              <a:t>WHAT'S NEXT</a:t>
            </a:r>
            <a:endParaRPr lang="en-US" sz="1150" dirty="0"/>
          </a:p>
        </p:txBody>
      </p:sp>
      <p:sp>
        <p:nvSpPr>
          <p:cNvPr id="8" name="Text 6"/>
          <p:cNvSpPr txBox="1"/>
          <p:nvPr/>
        </p:nvSpPr>
        <p:spPr>
          <a:xfrm>
            <a:off x="822960" y="5120640"/>
            <a:ext cx="10424160" cy="640080"/>
          </a:xfrm>
          <a:prstGeom prst="rect">
            <a:avLst/>
          </a:prstGeom>
          <a:noFill/>
          <a:ln/>
        </p:spPr>
        <p:txBody>
          <a:bodyPr wrap="square" lIns="0" tIns="0" rIns="0" bIns="0" rtlCol="0" anchor="ctr"/>
          <a:lstStyle/>
          <a:p>
            <a:pPr indent="0" marL="0">
              <a:lnSpc>
                <a:spcPts val="1900"/>
              </a:lnSpc>
              <a:buNone/>
            </a:pPr>
            <a:r>
              <a:rPr lang="en-US" sz="1300" dirty="0">
                <a:solidFill>
                  <a:srgbClr val="ECE7DD"/>
                </a:solidFill>
                <a:latin typeface="Calibri" pitchFamily="34" charset="0"/>
                <a:ea typeface="Calibri" pitchFamily="34" charset="-122"/>
                <a:cs typeface="Calibri" pitchFamily="34" charset="-120"/>
              </a:rPr>
              <a:t>One-page meeting-pack export  ·  household-level tax-lot optimisation  ·  right-sizing the engine to a columnar store behind the same detector interface</a:t>
            </a:r>
            <a:endParaRPr lang="en-US" sz="1300" dirty="0"/>
          </a:p>
        </p:txBody>
      </p:sp>
      <p:sp>
        <p:nvSpPr>
          <p:cNvPr id="9" name="Text 7"/>
          <p:cNvSpPr txBox="1"/>
          <p:nvPr/>
        </p:nvSpPr>
        <p:spPr>
          <a:xfrm>
            <a:off x="822960" y="6126480"/>
            <a:ext cx="10058400" cy="274320"/>
          </a:xfrm>
          <a:prstGeom prst="rect">
            <a:avLst/>
          </a:prstGeom>
          <a:noFill/>
          <a:ln/>
        </p:spPr>
        <p:txBody>
          <a:bodyPr wrap="square" lIns="0" tIns="0" rIns="0" bIns="0" rtlCol="0" anchor="ctr"/>
          <a:lstStyle/>
          <a:p>
            <a:pPr indent="0" marL="0">
              <a:buNone/>
            </a:pPr>
            <a:r>
              <a:rPr lang="en-US" sz="1100" i="1" dirty="0">
                <a:solidFill>
                  <a:srgbClr val="7C8492"/>
                </a:solidFill>
                <a:latin typeface="Calibri" pitchFamily="34" charset="0"/>
                <a:ea typeface="Calibri" pitchFamily="34" charset="-122"/>
                <a:cs typeface="Calibri" pitchFamily="34" charset="-120"/>
              </a:rPr>
              <a:t>Synthetic data throughout · the RM owns the advice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2026-09-05T06:05:28Z</dcterms:created>
  <dcterms:modified xsi:type="dcterms:W3CDTF">2026-09-05T06:05:28Z</dcterms:modified>
</cp:coreProperties>
</file>